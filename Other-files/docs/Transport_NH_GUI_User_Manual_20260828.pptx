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cb6e5854b84dda" /><Relationship Type="http://schemas.openxmlformats.org/officeDocument/2006/relationships/extended-properties" Target="/docProps/app.xml" Id="R5e19745b0d1d407a" /><Relationship Type="http://schemas.openxmlformats.org/officeDocument/2006/relationships/officeDocument" Target="/ppt/presentation.xml" Id="R0c809373615a49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1b619af3b84c40"/>
  </p:sldMasterIdLst>
  <p:notesMasterIdLst>
    <p:notesMasterId xmlns:r="http://schemas.openxmlformats.org/officeDocument/2006/relationships" r:id="R2040e14cb51140de"/>
  </p:notesMasterIdLst>
  <p:sldIdLst>
    <p:sldId xmlns:r="http://schemas.openxmlformats.org/officeDocument/2006/relationships" id="256" r:id="Re1b3d25300084f0a"/>
    <p:sldId xmlns:r="http://schemas.openxmlformats.org/officeDocument/2006/relationships" id="257" r:id="R7cad2c7ca96546a4"/>
    <p:sldId xmlns:r="http://schemas.openxmlformats.org/officeDocument/2006/relationships" id="258" r:id="R61e89f317e5f4062"/>
    <p:sldId xmlns:r="http://schemas.openxmlformats.org/officeDocument/2006/relationships" id="259" r:id="Rd187e0925c6d4648"/>
    <p:sldId xmlns:r="http://schemas.openxmlformats.org/officeDocument/2006/relationships" id="260" r:id="R923019d2532d4c0d"/>
    <p:sldId xmlns:r="http://schemas.openxmlformats.org/officeDocument/2006/relationships" id="261" r:id="Rb3cf4b30433f4079"/>
    <p:sldId xmlns:r="http://schemas.openxmlformats.org/officeDocument/2006/relationships" id="262" r:id="R24e885b41c9e443f"/>
    <p:sldId xmlns:r="http://schemas.openxmlformats.org/officeDocument/2006/relationships" id="263" r:id="R7d2be406e56049f0"/>
    <p:sldId xmlns:r="http://schemas.openxmlformats.org/officeDocument/2006/relationships" id="264" r:id="R5bb2727aa8b64c78"/>
    <p:sldId xmlns:r="http://schemas.openxmlformats.org/officeDocument/2006/relationships" id="265" r:id="R0d5645368b6f43c4"/>
    <p:sldId xmlns:r="http://schemas.openxmlformats.org/officeDocument/2006/relationships" id="266" r:id="R021e3aba11d54e57"/>
    <p:sldId xmlns:r="http://schemas.openxmlformats.org/officeDocument/2006/relationships" id="267" r:id="Raf36e1a8aaad4fff"/>
    <p:sldId xmlns:r="http://schemas.openxmlformats.org/officeDocument/2006/relationships" id="268" r:id="R6a607e02e6b34f68"/>
    <p:sldId xmlns:r="http://schemas.openxmlformats.org/officeDocument/2006/relationships" id="269" r:id="R4f21c6b47c074747"/>
    <p:sldId xmlns:r="http://schemas.openxmlformats.org/officeDocument/2006/relationships" id="270" r:id="R8fdfcf9e7b82463d"/>
    <p:sldId xmlns:r="http://schemas.openxmlformats.org/officeDocument/2006/relationships" id="271" r:id="R14e469a8dd994726"/>
    <p:sldId xmlns:r="http://schemas.openxmlformats.org/officeDocument/2006/relationships" id="272" r:id="R8bedbef6531c4e6f"/>
    <p:sldId xmlns:r="http://schemas.openxmlformats.org/officeDocument/2006/relationships" id="273" r:id="R6714bf5f973a4922"/>
    <p:sldId xmlns:r="http://schemas.openxmlformats.org/officeDocument/2006/relationships" id="274" r:id="R6a11b5a0699143d4"/>
    <p:sldId xmlns:r="http://schemas.openxmlformats.org/officeDocument/2006/relationships" id="275" r:id="R9fde795305094179"/>
    <p:sldId xmlns:r="http://schemas.openxmlformats.org/officeDocument/2006/relationships" id="276" r:id="R6f5ad426f363439f"/>
    <p:sldId xmlns:r="http://schemas.openxmlformats.org/officeDocument/2006/relationships" id="277" r:id="R0208a800b1e44593"/>
    <p:sldId xmlns:r="http://schemas.openxmlformats.org/officeDocument/2006/relationships" id="278" r:id="Rad3b9e7347724921"/>
    <p:sldId xmlns:r="http://schemas.openxmlformats.org/officeDocument/2006/relationships" id="279" r:id="R3ef9e8001e2f4fe0"/>
    <p:sldId xmlns:r="http://schemas.openxmlformats.org/officeDocument/2006/relationships" id="280" r:id="Ra40b045c78c84a21"/>
    <p:sldId xmlns:r="http://schemas.openxmlformats.org/officeDocument/2006/relationships" id="281" r:id="R34a01fce4b9e4d4f"/>
    <p:sldId xmlns:r="http://schemas.openxmlformats.org/officeDocument/2006/relationships" id="282" r:id="R419809e0470f4ba3"/>
    <p:sldId xmlns:r="http://schemas.openxmlformats.org/officeDocument/2006/relationships" id="283" r:id="R1bd8bec7603e4019"/>
    <p:sldId xmlns:r="http://schemas.openxmlformats.org/officeDocument/2006/relationships" id="284" r:id="R70804e41ba1a46a3"/>
    <p:sldId xmlns:r="http://schemas.openxmlformats.org/officeDocument/2006/relationships" id="285" r:id="R59087218596a4fb4"/>
    <p:sldId xmlns:r="http://schemas.openxmlformats.org/officeDocument/2006/relationships" id="286" r:id="R456ec05cc7e143ab"/>
    <p:sldId xmlns:r="http://schemas.openxmlformats.org/officeDocument/2006/relationships" id="287" r:id="R46dcf2f71f7245df"/>
    <p:sldId xmlns:r="http://schemas.openxmlformats.org/officeDocument/2006/relationships" id="288" r:id="R576bcb74c0b54322"/>
    <p:sldId xmlns:r="http://schemas.openxmlformats.org/officeDocument/2006/relationships" id="289" r:id="Rebcada23e28c409f"/>
    <p:sldId xmlns:r="http://schemas.openxmlformats.org/officeDocument/2006/relationships" id="290" r:id="R3d1d62c531ca45b8"/>
    <p:sldId xmlns:r="http://schemas.openxmlformats.org/officeDocument/2006/relationships" id="291" r:id="R5362c2d408d34c03"/>
    <p:sldId xmlns:r="http://schemas.openxmlformats.org/officeDocument/2006/relationships" id="292" r:id="Rbabde8f798024225"/>
    <p:sldId xmlns:r="http://schemas.openxmlformats.org/officeDocument/2006/relationships" id="293" r:id="R92b0a3ad0fe34153"/>
    <p:sldId xmlns:r="http://schemas.openxmlformats.org/officeDocument/2006/relationships" id="294" r:id="Rc5de5ae28a2d45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580e4ac4084b9c" /><Relationship Type="http://schemas.openxmlformats.org/officeDocument/2006/relationships/slideMaster" Target="/ppt/slideMasters/slideMaster1.xml" Id="R931b619af3b84c40" /><Relationship Type="http://schemas.openxmlformats.org/officeDocument/2006/relationships/notesMaster" Target="/ppt/notesMasters/notesMaster1.xml" Id="R2040e14cb51140de" /><Relationship Type="http://schemas.openxmlformats.org/officeDocument/2006/relationships/presProps" Target="/ppt/presProps.xml" Id="R809c4205ab144dff" /><Relationship Type="http://schemas.openxmlformats.org/officeDocument/2006/relationships/tableStyles" Target="/ppt/tableStyles.xml" Id="R5bb600df01b041b9" /><Relationship Type="http://schemas.openxmlformats.org/officeDocument/2006/relationships/slide" Target="/ppt/slides/slide1.xml" Id="Re1b3d25300084f0a" /><Relationship Type="http://schemas.openxmlformats.org/officeDocument/2006/relationships/slide" Target="/ppt/slides/slide2.xml" Id="R7cad2c7ca96546a4" /><Relationship Type="http://schemas.openxmlformats.org/officeDocument/2006/relationships/slide" Target="/ppt/slides/slide3.xml" Id="R61e89f317e5f4062" /><Relationship Type="http://schemas.openxmlformats.org/officeDocument/2006/relationships/slide" Target="/ppt/slides/slide4.xml" Id="Rd187e0925c6d4648" /><Relationship Type="http://schemas.openxmlformats.org/officeDocument/2006/relationships/slide" Target="/ppt/slides/slide5.xml" Id="R923019d2532d4c0d" /><Relationship Type="http://schemas.openxmlformats.org/officeDocument/2006/relationships/slide" Target="/ppt/slides/slide6.xml" Id="Rb3cf4b30433f4079" /><Relationship Type="http://schemas.openxmlformats.org/officeDocument/2006/relationships/slide" Target="/ppt/slides/slide7.xml" Id="R24e885b41c9e443f" /><Relationship Type="http://schemas.openxmlformats.org/officeDocument/2006/relationships/slide" Target="/ppt/slides/slide8.xml" Id="R7d2be406e56049f0" /><Relationship Type="http://schemas.openxmlformats.org/officeDocument/2006/relationships/slide" Target="/ppt/slides/slide9.xml" Id="R5bb2727aa8b64c78" /><Relationship Type="http://schemas.openxmlformats.org/officeDocument/2006/relationships/slide" Target="/ppt/slides/slide10.xml" Id="R0d5645368b6f43c4" /><Relationship Type="http://schemas.openxmlformats.org/officeDocument/2006/relationships/slide" Target="/ppt/slides/slide11.xml" Id="R021e3aba11d54e57" /><Relationship Type="http://schemas.openxmlformats.org/officeDocument/2006/relationships/slide" Target="/ppt/slides/slide12.xml" Id="Raf36e1a8aaad4fff" /><Relationship Type="http://schemas.openxmlformats.org/officeDocument/2006/relationships/slide" Target="/ppt/slides/slide13.xml" Id="R6a607e02e6b34f68" /><Relationship Type="http://schemas.openxmlformats.org/officeDocument/2006/relationships/slide" Target="/ppt/slides/slide14.xml" Id="R4f21c6b47c074747" /><Relationship Type="http://schemas.openxmlformats.org/officeDocument/2006/relationships/slide" Target="/ppt/slides/slide15.xml" Id="R8fdfcf9e7b82463d" /><Relationship Type="http://schemas.openxmlformats.org/officeDocument/2006/relationships/slide" Target="/ppt/slides/slide16.xml" Id="R14e469a8dd994726" /><Relationship Type="http://schemas.openxmlformats.org/officeDocument/2006/relationships/slide" Target="/ppt/slides/slide17.xml" Id="R8bedbef6531c4e6f" /><Relationship Type="http://schemas.openxmlformats.org/officeDocument/2006/relationships/slide" Target="/ppt/slides/slide18.xml" Id="R6714bf5f973a4922" /><Relationship Type="http://schemas.openxmlformats.org/officeDocument/2006/relationships/slide" Target="/ppt/slides/slide19.xml" Id="R6a11b5a0699143d4" /><Relationship Type="http://schemas.openxmlformats.org/officeDocument/2006/relationships/slide" Target="/ppt/slides/slide20.xml" Id="R9fde795305094179" /><Relationship Type="http://schemas.openxmlformats.org/officeDocument/2006/relationships/slide" Target="/ppt/slides/slide21.xml" Id="R6f5ad426f363439f" /><Relationship Type="http://schemas.openxmlformats.org/officeDocument/2006/relationships/slide" Target="/ppt/slides/slide22.xml" Id="R0208a800b1e44593" /><Relationship Type="http://schemas.openxmlformats.org/officeDocument/2006/relationships/slide" Target="/ppt/slides/slide23.xml" Id="Rad3b9e7347724921" /><Relationship Type="http://schemas.openxmlformats.org/officeDocument/2006/relationships/slide" Target="/ppt/slides/slide24.xml" Id="R3ef9e8001e2f4fe0" /><Relationship Type="http://schemas.openxmlformats.org/officeDocument/2006/relationships/slide" Target="/ppt/slides/slide25.xml" Id="Ra40b045c78c84a21" /><Relationship Type="http://schemas.openxmlformats.org/officeDocument/2006/relationships/slide" Target="/ppt/slides/slide26.xml" Id="R34a01fce4b9e4d4f" /><Relationship Type="http://schemas.openxmlformats.org/officeDocument/2006/relationships/slide" Target="/ppt/slides/slide27.xml" Id="R419809e0470f4ba3" /><Relationship Type="http://schemas.openxmlformats.org/officeDocument/2006/relationships/slide" Target="/ppt/slides/slide28.xml" Id="R1bd8bec7603e4019" /><Relationship Type="http://schemas.openxmlformats.org/officeDocument/2006/relationships/slide" Target="/ppt/slides/slide29.xml" Id="R70804e41ba1a46a3" /><Relationship Type="http://schemas.openxmlformats.org/officeDocument/2006/relationships/slide" Target="/ppt/slides/slide30.xml" Id="R59087218596a4fb4" /><Relationship Type="http://schemas.openxmlformats.org/officeDocument/2006/relationships/slide" Target="/ppt/slides/slide31.xml" Id="R456ec05cc7e143ab" /><Relationship Type="http://schemas.openxmlformats.org/officeDocument/2006/relationships/slide" Target="/ppt/slides/slide32.xml" Id="R46dcf2f71f7245df" /><Relationship Type="http://schemas.openxmlformats.org/officeDocument/2006/relationships/slide" Target="/ppt/slides/slide33.xml" Id="R576bcb74c0b54322" /><Relationship Type="http://schemas.openxmlformats.org/officeDocument/2006/relationships/slide" Target="/ppt/slides/slide34.xml" Id="Rebcada23e28c409f" /><Relationship Type="http://schemas.openxmlformats.org/officeDocument/2006/relationships/slide" Target="/ppt/slides/slide35.xml" Id="R3d1d62c531ca45b8" /><Relationship Type="http://schemas.openxmlformats.org/officeDocument/2006/relationships/slide" Target="/ppt/slides/slide36.xml" Id="R5362c2d408d34c03" /><Relationship Type="http://schemas.openxmlformats.org/officeDocument/2006/relationships/slide" Target="/ppt/slides/slide37.xml" Id="Rbabde8f798024225" /><Relationship Type="http://schemas.openxmlformats.org/officeDocument/2006/relationships/slide" Target="/ppt/slides/slide38.xml" Id="R92b0a3ad0fe34153" /><Relationship Type="http://schemas.openxmlformats.org/officeDocument/2006/relationships/slide" Target="/ppt/slides/slide39.xml" Id="Rc5de5ae28a2d45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e62087b3f341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fa4b64d49344eb" /><Relationship Type="http://schemas.openxmlformats.org/officeDocument/2006/relationships/notesMaster" Target="/ppt/notesMasters/notesMaster1.xml" Id="R025023209a6f4b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d37627031749ab" /><Relationship Type="http://schemas.openxmlformats.org/officeDocument/2006/relationships/notesMaster" Target="/ppt/notesMasters/notesMaster1.xml" Id="Rab66e032594e49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261660a5634be3" /><Relationship Type="http://schemas.openxmlformats.org/officeDocument/2006/relationships/notesMaster" Target="/ppt/notesMasters/notesMaster1.xml" Id="R1e2445fe9aeb4b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7c382e552b4596" /><Relationship Type="http://schemas.openxmlformats.org/officeDocument/2006/relationships/notesMaster" Target="/ppt/notesMasters/notesMaster1.xml" Id="R7832992a001d45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3298fdec4d40f1" /><Relationship Type="http://schemas.openxmlformats.org/officeDocument/2006/relationships/notesMaster" Target="/ppt/notesMasters/notesMaster1.xml" Id="Rcef7aa79bf7444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e6355f3b364a12" /><Relationship Type="http://schemas.openxmlformats.org/officeDocument/2006/relationships/notesMaster" Target="/ppt/notesMasters/notesMaster1.xml" Id="R22ec73c6928249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68b9d343aa4c77" /><Relationship Type="http://schemas.openxmlformats.org/officeDocument/2006/relationships/notesMaster" Target="/ppt/notesMasters/notesMaster1.xml" Id="R1ce69fd01f6b4b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76560c41794f69" /><Relationship Type="http://schemas.openxmlformats.org/officeDocument/2006/relationships/notesMaster" Target="/ppt/notesMasters/notesMaster1.xml" Id="Re62f97c8ca1441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f55c6d76b7458a" /><Relationship Type="http://schemas.openxmlformats.org/officeDocument/2006/relationships/notesMaster" Target="/ppt/notesMasters/notesMaster1.xml" Id="R5e18a6d2065448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4848f8cb7b4d3f" /><Relationship Type="http://schemas.openxmlformats.org/officeDocument/2006/relationships/notesMaster" Target="/ppt/notesMasters/notesMaster1.xml" Id="R44df521e986b4a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46560fa9b944e3" /><Relationship Type="http://schemas.openxmlformats.org/officeDocument/2006/relationships/notesMaster" Target="/ppt/notesMasters/notesMaster1.xml" Id="R8982b3d95a844b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5567ce8e9043e2" /><Relationship Type="http://schemas.openxmlformats.org/officeDocument/2006/relationships/notesMaster" Target="/ppt/notesMasters/notesMaster1.xml" Id="R2a3b9dedeef04c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93b844751445b4" /><Relationship Type="http://schemas.openxmlformats.org/officeDocument/2006/relationships/notesMaster" Target="/ppt/notesMasters/notesMaster1.xml" Id="R56c76910166a4a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745b77ebf34ccc" /><Relationship Type="http://schemas.openxmlformats.org/officeDocument/2006/relationships/notesMaster" Target="/ppt/notesMasters/notesMaster1.xml" Id="Re41e62f39ea449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23ed3f0d474eb5" /><Relationship Type="http://schemas.openxmlformats.org/officeDocument/2006/relationships/notesMaster" Target="/ppt/notesMasters/notesMaster1.xml" Id="R24d8c738f6ac4b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f6649a44294aff" /><Relationship Type="http://schemas.openxmlformats.org/officeDocument/2006/relationships/notesMaster" Target="/ppt/notesMasters/notesMaster1.xml" Id="R66c35046a7594c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1fa99f7ab84f41" /><Relationship Type="http://schemas.openxmlformats.org/officeDocument/2006/relationships/notesMaster" Target="/ppt/notesMasters/notesMaster1.xml" Id="R15f5771bc5f045c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02184d571b4a0f" /><Relationship Type="http://schemas.openxmlformats.org/officeDocument/2006/relationships/notesMaster" Target="/ppt/notesMasters/notesMaster1.xml" Id="R516a4e9f772a4f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1cbafbada6b4476" /><Relationship Type="http://schemas.openxmlformats.org/officeDocument/2006/relationships/notesMaster" Target="/ppt/notesMasters/notesMaster1.xml" Id="R3d2e13a587aa44d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73e76c146754df9" /><Relationship Type="http://schemas.openxmlformats.org/officeDocument/2006/relationships/notesMaster" Target="/ppt/notesMasters/notesMaster1.xml" Id="Rfa067cf3e21c402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44bddc2eb9d461c" /><Relationship Type="http://schemas.openxmlformats.org/officeDocument/2006/relationships/notesMaster" Target="/ppt/notesMasters/notesMaster1.xml" Id="R2787447ae23148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394f3d15c5c46d4" /><Relationship Type="http://schemas.openxmlformats.org/officeDocument/2006/relationships/notesMaster" Target="/ppt/notesMasters/notesMaster1.xml" Id="R81d404a2575f47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1f0a55d78c4f0c" /><Relationship Type="http://schemas.openxmlformats.org/officeDocument/2006/relationships/notesMaster" Target="/ppt/notesMasters/notesMaster1.xml" Id="Ra69c9092ad73472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dabf9eaeb9146b8" /><Relationship Type="http://schemas.openxmlformats.org/officeDocument/2006/relationships/notesMaster" Target="/ppt/notesMasters/notesMaster1.xml" Id="R24fdb313142346d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94b668c98c94c30" /><Relationship Type="http://schemas.openxmlformats.org/officeDocument/2006/relationships/notesMaster" Target="/ppt/notesMasters/notesMaster1.xml" Id="R6247c83a387248c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e6e9ec353124c31" /><Relationship Type="http://schemas.openxmlformats.org/officeDocument/2006/relationships/notesMaster" Target="/ppt/notesMasters/notesMaster1.xml" Id="R6ebf35724ff849d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45806c04ed944d1" /><Relationship Type="http://schemas.openxmlformats.org/officeDocument/2006/relationships/notesMaster" Target="/ppt/notesMasters/notesMaster1.xml" Id="Rab1eadacc00441d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3cc56ce470d4fa3" /><Relationship Type="http://schemas.openxmlformats.org/officeDocument/2006/relationships/notesMaster" Target="/ppt/notesMasters/notesMaster1.xml" Id="Rabe77795a646405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ce9b3a6f7364e17" /><Relationship Type="http://schemas.openxmlformats.org/officeDocument/2006/relationships/notesMaster" Target="/ppt/notesMasters/notesMaster1.xml" Id="R9d61f1c7193343d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dc498a3546a40fc" /><Relationship Type="http://schemas.openxmlformats.org/officeDocument/2006/relationships/notesMaster" Target="/ppt/notesMasters/notesMaster1.xml" Id="R14e5f4f6e1f0465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95f3f3f1966414d" /><Relationship Type="http://schemas.openxmlformats.org/officeDocument/2006/relationships/notesMaster" Target="/ppt/notesMasters/notesMaster1.xml" Id="R46a10a2d143749e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4992a6d8107449d" /><Relationship Type="http://schemas.openxmlformats.org/officeDocument/2006/relationships/notesMaster" Target="/ppt/notesMasters/notesMaster1.xml" Id="R2b14863e80bb424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3ca43d467374ac2" /><Relationship Type="http://schemas.openxmlformats.org/officeDocument/2006/relationships/notesMaster" Target="/ppt/notesMasters/notesMaster1.xml" Id="Re9d3667aeb19468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7e53d8a7d4e42a8" /><Relationship Type="http://schemas.openxmlformats.org/officeDocument/2006/relationships/notesMaster" Target="/ppt/notesMasters/notesMaster1.xml" Id="Rf1f0a34c81cb400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37e51d1dce844b5" /><Relationship Type="http://schemas.openxmlformats.org/officeDocument/2006/relationships/notesMaster" Target="/ppt/notesMasters/notesMaster1.xml" Id="Ra24dfdde6e144d5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8c75e68753844fc" /><Relationship Type="http://schemas.openxmlformats.org/officeDocument/2006/relationships/notesMaster" Target="/ppt/notesMasters/notesMaster1.xml" Id="R356ed5861a49419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7a47deb72be435a" /><Relationship Type="http://schemas.openxmlformats.org/officeDocument/2006/relationships/notesMaster" Target="/ppt/notesMasters/notesMaster1.xml" Id="R7eec26f61cc14b2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3f30e91eb114407" /><Relationship Type="http://schemas.openxmlformats.org/officeDocument/2006/relationships/notesMaster" Target="/ppt/notesMasters/notesMaster1.xml" Id="Rb6373e18f2b24b4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4169006ca4a4e67" /><Relationship Type="http://schemas.openxmlformats.org/officeDocument/2006/relationships/notesMaster" Target="/ppt/notesMasters/notesMaster1.xml" Id="R88538754577447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/Users/nbb/Desktop/2-Posdoc_Heng/0-Codex/3-Transport/Magneto_Electro_Optical_Microwave_Transport_NH_dev.py:1-30</a:t>
            </a:r>
          </a:p>
          <a:p xmlns:a="http://schemas.openxmlformats.org/drawingml/2006/main">
            <a:r>
              <a:t>- /Users/nbb/Desktop/2-Posdoc_Heng/0-Codex/3-Transport/Magneto_Electro_Optical_Microwave_Transport_NH_dev.py:11020-11028</a:t>
            </a:r>
          </a:p>
          <a:p xmlns:a="http://schemas.openxmlformats.org/drawingml/2006/main">
            <a:r>
              <a:t>- /Users/nbb/Desktop/2-Posdoc_Heng/0-Codex/3-Transport/assets/Magneto_Electro_Optical_Microwave_Transport_NH_icon.png (project icon)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/Users/nbb/Desktop/2-Posdoc_Heng/0-Codex/3-Transport/Magneto_Electro_Optical_Microwave_Transport_NH_dev.py:1-30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/Users/nbb/Desktop/2-Posdoc_Heng/0-Codex/3-Transport/Magneto_Electro_Optical_Microwave_Transport_NH_dev.py:11020-11028</a:t>
            </a:r>
          </a:p>
          <a:p xmlns:a="http://schemas.openxmlformats.org/drawingml/2006/main">
            <a:r>
              <a:t>- /Users/nbb/Desktop/2-Posdoc_Heng/0-Codex/3-Transport/Magneto_Electro_Optical_Microwave_Transport_NH_dev.py:11050-12130</a:t>
            </a:r>
          </a:p>
          <a:p xmlns:a="http://schemas.openxmlformats.org/drawingml/2006/main">
            <a:r>
              <a:t>- /Users/nbb/Desktop/2-Posdoc_Heng/0-Codex/3-Transport/Magneto_Electro_Optical_Microwave_Transport_NH_dev.py:13854-16270</a:t>
            </a:r>
          </a:p>
          <a:p xmlns:a="http://schemas.openxmlformats.org/drawingml/2006/main">
            <a:r>
              <a:t>- /Users/nbb/Desktop/2-Posdoc_Heng/0-Codex/3-Transport/Magneto_Electro_Optical_Microwave_Transport_NH_dev.py:29018-29190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/Users/nbb/Desktop/2-Posdoc_Heng/0-Codex/3-Transport/Magneto_Electro_Optical_Microwave_Transport_NH_dev.py:10620-10990</a:t>
            </a:r>
          </a:p>
          <a:p xmlns:a="http://schemas.openxmlformats.org/drawingml/2006/main">
            <a:r>
              <a:t>- /Users/nbb/Desktop/2-Posdoc_Heng/0-Codex/3-Transport/Magneto_Electro_Optical_Microwave_Transport_NH_dev.py:11100-11120</a:t>
            </a:r>
          </a:p>
          <a:p xmlns:a="http://schemas.openxmlformats.org/drawingml/2006/main">
            <a:r>
              <a:t>- /Users/nbb/Desktop/2-Posdoc_Heng/0-Codex/3-Transport/Magneto_Electro_Optical_Microwave_Transport_NH_dev.py:11340-11370</a:t>
            </a:r>
          </a:p>
          <a:p xmlns:a="http://schemas.openxmlformats.org/drawingml/2006/main">
            <a:r>
              <a:t>- /Users/nbb/Desktop/2-Posdoc_Heng/0-Codex/3-Transport/Magneto_Electro_Optical_Microwave_Transport_NH_dev.py:11795-11835</a:t>
            </a:r>
          </a:p>
          <a:p xmlns:a="http://schemas.openxmlformats.org/drawingml/2006/main">
            <a:r>
              <a:t>- /Users/nbb/Desktop/2-Posdoc_Heng/0-Codex/3-Transport/Magneto_Electro_Optical_Microwave_Transport_NH_dev.py:14730-14770</a:t>
            </a:r>
          </a:p>
          <a:p xmlns:a="http://schemas.openxmlformats.org/drawingml/2006/main">
            <a:r>
              <a:t>- /Users/nbb/Desktop/2-Posdoc_Heng/0-Codex/3-Transport/Magneto_Electro_Optical_Microwave_Transport_NH_dev.py:15120-15150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/Users/nbb/Desktop/2-Posdoc_Heng/0-Codex/3-Transport/Magneto_Electro_Optical_Microwave_Transport_NH_dev.py:11255-11303</a:t>
            </a:r>
          </a:p>
          <a:p xmlns:a="http://schemas.openxmlformats.org/drawingml/2006/main">
            <a:r>
              <a:t>- /Users/nbb/Desktop/2-Posdoc_Heng/0-Codex/3-Transport/Magneto_Electro_Optical_Microwave_Transport_NH_dev.py:8800-10100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/Users/nbb/Desktop/2-Posdoc_Heng/0-Codex/3-Transport/Magneto_Electro_Optical_Microwave_Transport_NH_dev.py:11068-11224</a:t>
            </a:r>
          </a:p>
          <a:p xmlns:a="http://schemas.openxmlformats.org/drawingml/2006/main">
            <a:r>
              <a:t>- /Users/nbb/Desktop/2-Posdoc_Heng/0-Codex/3-Transport/Magneto_Electro_Optical_Microwave_Transport_NH_dev.py:16450-16550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/Users/nbb/Desktop/2-Posdoc_Heng/0-Codex/3-Transport/Magneto_Electro_Optical_Microwave_Transport_NH_dev.py:11124-11223</a:t>
            </a:r>
          </a:p>
          <a:p xmlns:a="http://schemas.openxmlformats.org/drawingml/2006/main">
            <a:r>
              <a:t>- /Users/nbb/Desktop/2-Posdoc_Heng/0-Codex/3-Transport/Magneto_Electro_Optical_Microwave_Transport_NH_dev.py:13854-13980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/Users/nbb/Desktop/2-Posdoc_Heng/0-Codex/3-Transport/Magneto_Electro_Optical_Microwave_Transport_NH_dev.py:8800-10100</a:t>
            </a:r>
          </a:p>
          <a:p xmlns:a="http://schemas.openxmlformats.org/drawingml/2006/main">
            <a:r>
              <a:t>- /Users/nbb/Desktop/2-Posdoc_Heng/0-Codex/3-Transport/Magneto_Electro_Optical_Microwave_Transport_NH_dev.py:17000-18000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/Users/nbb/Desktop/2-Posdoc_Heng/0-Codex/3-Transport/Magneto_Electro_Optical_Microwave_Transport_NH_dev.py:29018-29190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/Users/nbb/Desktop/2-Posdoc_Heng/0-Codex/3-Transport/Magneto_Electro_Optical_Microwave_Transport_NH_dev.py:29060-29190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/Users/nbb/Desktop/2-Posdoc_Heng/0-Codex/3-Transport/Magneto_Electro_Optical_Microwave_Transport_NH_dev.py:13994-14210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/Users/nbb/Desktop/2-Posdoc_Heng/0-Codex/3-Transport/Magneto_Electro_Optical_Microwave_Transport_NH_dev.py:14120-14210</a:t>
            </a:r>
          </a:p>
          <a:p xmlns:a="http://schemas.openxmlformats.org/drawingml/2006/main">
            <a:r>
              <a:t>- /Users/nbb/Desktop/2-Posdoc_Heng/0-Codex/3-Transport/Magneto_Electro_Optical_Microwave_Transport_NH_dev.py:14620-14710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/Users/nbb/Desktop/2-Posdoc_Heng/0-Codex/3-Transport/Magneto_Electro_Optical_Microwave_Transport_NH_dev.py:14211-14305</a:t>
            </a:r>
          </a:p>
          <a:p xmlns:a="http://schemas.openxmlformats.org/drawingml/2006/main">
            <a:r>
              <a:t>- /Users/nbb/Desktop/2-Posdoc_Heng/0-Codex/3-Transport/Magneto_Electro_Optical_Microwave_Transport_NH_dev.py:19500-20400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/Users/nbb/Desktop/2-Posdoc_Heng/0-Codex/3-Transport/Magneto_Electro_Optical_Microwave_Transport_NH_dev.py:14306-14590</a:t>
            </a:r>
          </a:p>
          <a:p xmlns:a="http://schemas.openxmlformats.org/drawingml/2006/main">
            <a:r>
              <a:t>- /Users/nbb/Desktop/2-Posdoc_Heng/0-Codex/3-Transport/Magneto_Electro_Optical_Microwave_Transport_NH_dev.py:17400-18100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/Users/nbb/Desktop/2-Posdoc_Heng/0-Codex/3-Transport/Magneto_Electro_Optical_Microwave_Transport_NH_dev.py:14713-14830</a:t>
            </a:r>
          </a:p>
          <a:p xmlns:a="http://schemas.openxmlformats.org/drawingml/2006/main">
            <a:r>
              <a:t>- /Users/nbb/Desktop/2-Posdoc_Heng/0-Codex/3-Transport/Magneto_Electro_Optical_Microwave_Transport_NH_dev.py:20500-21000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/Users/nbb/Desktop/2-Posdoc_Heng/0-Codex/3-Transport/Magneto_Electro_Optical_Microwave_Transport_NH_dev.py:14830-15110</a:t>
            </a:r>
          </a:p>
          <a:p xmlns:a="http://schemas.openxmlformats.org/drawingml/2006/main">
            <a:r>
              <a:t>- /Users/nbb/Desktop/2-Posdoc_Heng/0-Codex/3-Transport/Magneto_Electro_Optical_Microwave_Transport_NH_dev.py:21000-21600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/Users/nbb/Desktop/2-Posdoc_Heng/0-Codex/3-Transport/Magneto_Electro_Optical_Microwave_Transport_NH_dev.py:15111-15457</a:t>
            </a:r>
          </a:p>
          <a:p xmlns:a="http://schemas.openxmlformats.org/drawingml/2006/main">
            <a:r>
              <a:t>- /var/folders/61/zwljyfb1529g_99j7w44y9200000gn/T/codex-clipboard-b3786815-319a-47c4-bb19-e5b277d5ca81.png (current GUI screenshot)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/Users/nbb/Desktop/2-Posdoc_Heng/0-Codex/3-Transport/Magneto_Electro_Optical_Microwave_Transport_NH_dev.py:15111-15281</a:t>
            </a:r>
          </a:p>
          <a:p xmlns:a="http://schemas.openxmlformats.org/drawingml/2006/main">
            <a:r>
              <a:t>- /Users/nbb/Desktop/2-Posdoc_Heng/0-Codex/3-Transport/Magneto_Electro_Optical_Microwave_Transport_NH_dev.py:22400-23700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/Users/nbb/Desktop/2-Posdoc_Heng/0-Codex/3-Transport/Magneto_Electro_Optical_Microwave_Transport_NH_dev.py:15282-15457</a:t>
            </a:r>
          </a:p>
          <a:p xmlns:a="http://schemas.openxmlformats.org/drawingml/2006/main">
            <a:r>
              <a:t>- /Users/nbb/Desktop/2-Posdoc_Heng/0-Codex/3-Transport/Magneto_Electro_Optical_Microwave_Transport_NH_dev.py:23700-24400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/Users/nbb/Desktop/2-Posdoc_Heng/0-Codex/3-Transport/Magneto_Electro_Optical_Microwave_Transport_NH_dev.py:15458-15720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/Users/nbb/Desktop/2-Posdoc_Heng/0-Codex/3-Transport/Magneto_Electro_Optical_Microwave_Transport_NH_dev.py:15713-15957</a:t>
            </a:r>
          </a:p>
          <a:p xmlns:a="http://schemas.openxmlformats.org/drawingml/2006/main">
            <a:r>
              <a:t>- /Users/nbb/Desktop/2-Posdoc_Heng/0-Codex/3-Transport/Magneto_Electro_Optical_Microwave_Transport_NH_dev.py:24400-26900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/Users/nbb/Desktop/2-Posdoc_Heng/0-Codex/3-Transport/Magneto_Electro_Optical_Microwave_Transport_NH_dev.py:15958-16223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/Users/nbb/Desktop/2-Posdoc_Heng/0-Codex/3-Transport/Magneto_Electro_Optical_Microwave_Transport_NH_dev.py:16224-16450</a:t>
            </a:r>
          </a:p>
          <a:p xmlns:a="http://schemas.openxmlformats.org/drawingml/2006/main">
            <a:r>
              <a:t>- /Users/nbb/Desktop/2-Posdoc_Heng/0-Codex/3-Transport/Magneto_Electro_Optical_Microwave_Transport_NH_dev.py:26900-28600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/Users/nbb/Desktop/2-Posdoc_Heng/0-Codex/3-Transport/Magneto_Electro_Optical_Microwave_Transport_NH_dev.py:11304-11515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/Users/nbb/Desktop/2-Posdoc_Heng/0-Codex/3-Transport/Magneto_Electro_Optical_Microwave_Transport_NH_dev.py:11516-11750</a:t>
            </a:r>
          </a:p>
          <a:p xmlns:a="http://schemas.openxmlformats.org/drawingml/2006/main">
            <a:r>
              <a:t>- /Users/nbb/Desktop/2-Posdoc_Heng/0-Codex/3-Transport/Magneto_Electro_Optical_Microwave_Transport_NH_dev.py:28600-29010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/Users/nbb/Desktop/2-Posdoc_Heng/0-Codex/3-Transport/Magneto_Electro_Optical_Microwave_Transport_NH_dev.py:11751-12130</a:t>
            </a:r>
          </a:p>
          <a:p xmlns:a="http://schemas.openxmlformats.org/drawingml/2006/main">
            <a:r>
              <a:t>- /var/folders/61/zwljyfb1529g_99j7w44y9200000gn/T/codex-clipboard-8b467c84-bfc9-43a1-8ef8-d0df7ef0ee66.png (current GUI screenshot)</a:t>
            </a:r>
          </a:p>
          <a:p xmlns:a="http://schemas.openxmlformats.org/drawingml/2006/main">
            <a:r>
              <a:t>- /Users/nbb/Desktop/2-Posdoc_Heng/0-Codex/Codex-Memory/20-Projects/P11-PYTHON-TRANSPORT.md (STFMR validation boundary)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/Users/nbb/Desktop/2-Posdoc_Heng/0-Codex/3-Transport/Magneto_Electro_Optical_Microwave_Transport_NH_dev.py:11751-11940</a:t>
            </a:r>
          </a:p>
          <a:p xmlns:a="http://schemas.openxmlformats.org/drawingml/2006/main">
            <a:r>
              <a:t>- /Users/nbb/Desktop/2-Posdoc_Heng/0-Codex/Codex-Memory/20-Projects/P11-PYTHON-TRANSPORT.md (4886 trace-constrained behavior)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/Users/nbb/Desktop/2-Posdoc_Heng/0-Codex/3-Transport/Magneto_Electro_Optical_Microwave_Transport_NH_dev.py:11941-12040</a:t>
            </a:r>
          </a:p>
          <a:p xmlns:a="http://schemas.openxmlformats.org/drawingml/2006/main">
            <a:r>
              <a:t>- /Users/nbb/Desktop/2-Posdoc_Heng/0-Codex/3-Transport/Magneto_Electro_Optical_Microwave_Transport_NH_dev.py:12130-13750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/Users/nbb/Desktop/2-Posdoc_Heng/0-Codex/3-Transport/Magneto_Electro_Optical_Microwave_Transport_NH_dev.py:12040-12130</a:t>
            </a:r>
          </a:p>
          <a:p xmlns:a="http://schemas.openxmlformats.org/drawingml/2006/main">
            <a:r>
              <a:t>- /Users/nbb/Desktop/2-Posdoc_Heng/0-Codex/3-Transport/Magneto_Electro_Optical_Microwave_Transport_NH_dev.py:13250-13750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/Users/nbb/Desktop/2-Posdoc_Heng/0-Codex/3-Transport/Magneto_Electro_Optical_Microwave_Transport_NH_dev.py:13100-13380</a:t>
            </a:r>
          </a:p>
          <a:p xmlns:a="http://schemas.openxmlformats.org/drawingml/2006/main">
            <a:r>
              <a:t>- /var/folders/61/zwljyfb1529g_99j7w44y9200000gn/T/codex-clipboard-aa2be826-b768-47f5-8cab-141e9505b813.png (current GUI screenshot)</a:t>
            </a:r>
          </a:p>
          <a:p xmlns:a="http://schemas.openxmlformats.org/drawingml/2006/main">
            <a:r>
              <a:t>- /var/folders/61/zwljyfb1529g_99j7w44y9200000gn/T/codex-clipboard-aa2be826-b768-47f5-8cab-141e9505b813.png (current GUI screenshot)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/Users/nbb/Desktop/2-Posdoc_Heng/0-Codex/3-Transport/Magneto_Electro_Optical_Microwave_Transport_NH_dev.py:16380-16540</a:t>
            </a:r>
          </a:p>
          <a:p xmlns:a="http://schemas.openxmlformats.org/drawingml/2006/main">
            <a:r>
              <a:t>- /Users/nbb/Desktop/2-Posdoc_Heng/0-Codex/3-Transport/Magneto_Electro_Optical_Microwave_Transport_NH_dev.py:8800-10100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/Users/nbb/Desktop/2-Posdoc_Heng/0-Codex/3-Transport/Magneto_Electro_Optical_Microwave_Transport_NH_dev.py:14310-14580</a:t>
            </a:r>
          </a:p>
          <a:p xmlns:a="http://schemas.openxmlformats.org/drawingml/2006/main">
            <a:r>
              <a:t>- /Users/nbb/Desktop/2-Posdoc_Heng/0-Codex/3-Transport/Magneto_Electro_Optical_Microwave_Transport_NH_dev.py:14910-15060</a:t>
            </a:r>
          </a:p>
          <a:p xmlns:a="http://schemas.openxmlformats.org/drawingml/2006/main">
            <a:r>
              <a:t>- /Users/nbb/Desktop/2-Posdoc_Heng/0-Codex/3-Transport/Magneto_Electro_Optical_Microwave_Transport_NH_dev.py:15320-15420</a:t>
            </a:r>
          </a:p>
          <a:p xmlns:a="http://schemas.openxmlformats.org/drawingml/2006/main">
            <a:r>
              <a:t>- /Users/nbb/Desktop/2-Posdoc_Heng/0-Codex/3-Transport/Magneto_Electro_Optical_Microwave_Transport_NH_dev.py:11535-11575</a:t>
            </a:r>
          </a:p>
          <a:p xmlns:a="http://schemas.openxmlformats.org/drawingml/2006/main">
            <a:r>
              <a:t>- /Users/nbb/Desktop/2-Posdoc_Heng/0-Codex/3-Transport/Magneto_Electro_Optical_Microwave_Transport_NH_dev.py:11990-12100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/Users/nbb/Desktop/2-Posdoc_Heng/0-Codex/3-Transport/Magneto_Electro_Optical_Microwave_Transport_NH_dev.py:10800-11010</a:t>
            </a:r>
          </a:p>
          <a:p xmlns:a="http://schemas.openxmlformats.org/drawingml/2006/main">
            <a:r>
              <a:t>- /Users/nbb/Desktop/2-Posdoc_Heng/0-Codex/3-Transport/Magneto_Electro_Optical_Microwave_Transport_NH_dev.py:11100-11120</a:t>
            </a:r>
          </a:p>
          <a:p xmlns:a="http://schemas.openxmlformats.org/drawingml/2006/main">
            <a:r>
              <a:t>- /Users/nbb/Desktop/2-Posdoc_Heng/0-Codex/3-Transport/Magneto_Electro_Optical_Microwave_Transport_NH_dev.py:14750-14770</a:t>
            </a:r>
          </a:p>
          <a:p xmlns:a="http://schemas.openxmlformats.org/drawingml/2006/main">
            <a:r>
              <a:t>- /Users/nbb/Desktop/2-Posdoc_Heng/0-Codex/3-Transport/Magneto_Electro_Optical_Microwave_Transport_NH_dev.py:15260-15280</a:t>
            </a:r>
          </a:p>
          <a:p xmlns:a="http://schemas.openxmlformats.org/drawingml/2006/main">
            <a:r>
              <a:t>- /Users/nbb/Desktop/2-Posdoc_Heng/0-Codex/3-Transport/Magneto_Electro_Optical_Microwave_Transport_NH_dev.py:15740-15755</a:t>
            </a:r>
          </a:p>
          <a:p xmlns:a="http://schemas.openxmlformats.org/drawingml/2006/main">
            <a:r>
              <a:t>- /Users/nbb/Desktop/2-Posdoc_Heng/0-Codex/3-Transport/Magneto_Electro_Optical_Microwave_Transport_NH_dev.py:16200-16220</a:t>
            </a:r>
          </a:p>
          <a:p xmlns:a="http://schemas.openxmlformats.org/drawingml/2006/main">
            <a:r>
              <a:t>- /Users/nbb/Desktop/2-Posdoc_Heng/0-Codex/3-Transport/Magneto_Electro_Optical_Microwave_Transport_NH_dev.py:11870-11895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/Users/nbb/Desktop/2-Posdoc_Heng/0-Codex/3-Transport/Magneto_Electro_Optical_Microwave_Transport_NH_dev.py:10200-10990</a:t>
            </a:r>
          </a:p>
          <a:p xmlns:a="http://schemas.openxmlformats.org/drawingml/2006/main">
            <a:r>
              <a:t>- /Users/nbb/Desktop/2-Posdoc_Heng/0-Codex/3-Transport/Magneto_Electro_Optical_Microwave_Transport_NH_dev.py:11300-12130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/Users/nbb/Desktop/2-Posdoc_Heng/0-Codex/3-Transport/Magneto_Electro_Optical_Microwave_Transport_NH_dev.py:17000-18100</a:t>
            </a:r>
          </a:p>
          <a:p xmlns:a="http://schemas.openxmlformats.org/drawingml/2006/main">
            <a:r>
              <a:t>- /Users/nbb/Desktop/2-Posdoc_Heng/0-Codex/3-Transport/Magneto_Electro_Optical_Microwave_Transport_NH_dev.py:20800-21600</a:t>
            </a:r>
          </a:p>
          <a:p xmlns:a="http://schemas.openxmlformats.org/drawingml/2006/main">
            <a:r>
              <a:t>- /Users/nbb/Desktop/2-Posdoc_Heng/0-Codex/3-Transport/Magneto_Electro_Optical_Microwave_Transport_NH_dev.py:23900-24400</a:t>
            </a:r>
          </a:p>
          <a:p xmlns:a="http://schemas.openxmlformats.org/drawingml/2006/main">
            <a:r>
              <a:t>- /Users/nbb/Desktop/2-Posdoc_Heng/0-Codex/3-Transport/Magneto_Electro_Optical_Microwave_Transport_NH_dev.py:24400-28600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/Users/nbb/Desktop/2-Posdoc_Heng/0-Codex/3-Transport/Magneto_Electro_Optical_Microwave_Transport_NH_dev.py:18-120</a:t>
            </a:r>
          </a:p>
          <a:p xmlns:a="http://schemas.openxmlformats.org/drawingml/2006/main">
            <a:r>
              <a:t>- /Users/nbb/Desktop/2-Posdoc_Heng/0-Codex/3-Transport/Magneto_Electro_Optical_Microwave_Transport_NH_dev.py:9000-11000</a:t>
            </a:r>
          </a:p>
          <a:p xmlns:a="http://schemas.openxmlformats.org/drawingml/2006/main">
            <a:r>
              <a:t>- /Users/nbb/Desktop/2-Posdoc_Heng/0-Codex/Codex-Memory/20-Projects/P11-PYTHON-TRANSPORT.md (runtime and hardware validation notes)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/Users/nbb/Desktop/2-Posdoc_Heng/0-Codex/3-Transport/Magneto_Electro_Optical_Microwave_Transport_NH_dev.py:10200-10990</a:t>
            </a:r>
          </a:p>
          <a:p xmlns:a="http://schemas.openxmlformats.org/drawingml/2006/main">
            <a:r>
              <a:t>- /Users/nbb/Desktop/2-Posdoc_Heng/0-Codex/3-Transport/Magneto_Electro_Optical_Microwave_Transport_NH_dev.py:11300-16280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/Users/nbb/Desktop/2-Posdoc_Heng/0-Codex/3-Transport/Magneto_Electro_Optical_Microwave_Transport_NH_dev.py:11020-11028</a:t>
            </a:r>
          </a:p>
          <a:p xmlns:a="http://schemas.openxmlformats.org/drawingml/2006/main">
            <a:r>
              <a:t>- /Users/nbb/Desktop/2-Posdoc_Heng/0-Codex/3-Transport/Magneto_Electro_Optical_Microwave_Transport_NH_dev.py:11300-16280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/Users/nbb/Desktop/2-Posdoc_Heng/0-Codex/3-Transport/Magneto_Electro_Optical_Microwave_Transport_NH_dev.py:10200-10990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ff0f1220344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4c794fe6284edf" /><Relationship Type="http://schemas.openxmlformats.org/officeDocument/2006/relationships/slideLayout" Target="/ppt/slideLayouts/slideLayout1.xml" Id="R06625ec1116b42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625ec1116b42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0347f8cd3468b" /><Relationship Type="http://schemas.openxmlformats.org/officeDocument/2006/relationships/image" Target="/ppt/media/image.png" Id="Rbc08b35a527442a3" /><Relationship Type="http://schemas.openxmlformats.org/officeDocument/2006/relationships/notesSlide" Target="/ppt/notesSlides/notesSlide1.xml" Id="R4eb5d4b40e6e4e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d9edc517b4f40" /><Relationship Type="http://schemas.openxmlformats.org/officeDocument/2006/relationships/notesSlide" Target="/ppt/notesSlides/notesSlide2.xml" Id="R9a79bc8b733946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46539894444b6" /><Relationship Type="http://schemas.openxmlformats.org/officeDocument/2006/relationships/notesSlide" Target="/ppt/notesSlides/notesSlide3.xml" Id="R8fdc1cd0dac34d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bd4cb975c4ab2" /><Relationship Type="http://schemas.openxmlformats.org/officeDocument/2006/relationships/notesSlide" Target="/ppt/notesSlides/notesSlide4.xml" Id="R3e6eaa848b5c4f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4e3a68f25459f" /><Relationship Type="http://schemas.openxmlformats.org/officeDocument/2006/relationships/notesSlide" Target="/ppt/notesSlides/notesSlide5.xml" Id="R05daa698410148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51dcf67994fba" /><Relationship Type="http://schemas.openxmlformats.org/officeDocument/2006/relationships/notesSlide" Target="/ppt/notesSlides/notesSlide6.xml" Id="R116e32631d1e46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a1a7902404c2f" /><Relationship Type="http://schemas.openxmlformats.org/officeDocument/2006/relationships/notesSlide" Target="/ppt/notesSlides/notesSlide7.xml" Id="R8c5619047db141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deadf17f04e06" /><Relationship Type="http://schemas.openxmlformats.org/officeDocument/2006/relationships/notesSlide" Target="/ppt/notesSlides/notesSlide8.xml" Id="Ref0e93d4192b4d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f9d43eb114372" /><Relationship Type="http://schemas.openxmlformats.org/officeDocument/2006/relationships/notesSlide" Target="/ppt/notesSlides/notesSlide9.xml" Id="R8ebb6b68834c4a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cb732c5414a1a" /><Relationship Type="http://schemas.openxmlformats.org/officeDocument/2006/relationships/notesSlide" Target="/ppt/notesSlides/notesSlide10.xml" Id="R89bffbf190314c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25d4c965e415c" /><Relationship Type="http://schemas.openxmlformats.org/officeDocument/2006/relationships/notesSlide" Target="/ppt/notesSlides/notesSlide11.xml" Id="Rebe2c78f6a3d41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63bba7dcc4886" /><Relationship Type="http://schemas.openxmlformats.org/officeDocument/2006/relationships/notesSlide" Target="/ppt/notesSlides/notesSlide12.xml" Id="R9bfc0f5410144b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6864b64b34368" /><Relationship Type="http://schemas.openxmlformats.org/officeDocument/2006/relationships/notesSlide" Target="/ppt/notesSlides/notesSlide13.xml" Id="Rc824aec043b248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bdce87b1b480e" /><Relationship Type="http://schemas.openxmlformats.org/officeDocument/2006/relationships/notesSlide" Target="/ppt/notesSlides/notesSlide14.xml" Id="R27e96714c4b14a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54416116f437a" /><Relationship Type="http://schemas.openxmlformats.org/officeDocument/2006/relationships/notesSlide" Target="/ppt/notesSlides/notesSlide15.xml" Id="R2d284c1c97d74a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35a2dff604657" /><Relationship Type="http://schemas.openxmlformats.org/officeDocument/2006/relationships/notesSlide" Target="/ppt/notesSlides/notesSlide16.xml" Id="R6a43b1785c4a47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af8f003574600" /><Relationship Type="http://schemas.openxmlformats.org/officeDocument/2006/relationships/image" Target="/ppt/media/image2.png" Id="Rd6e8c942790141e1" /><Relationship Type="http://schemas.openxmlformats.org/officeDocument/2006/relationships/notesSlide" Target="/ppt/notesSlides/notesSlide17.xml" Id="R1eec60313927418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2ce170f374eab" /><Relationship Type="http://schemas.openxmlformats.org/officeDocument/2006/relationships/notesSlide" Target="/ppt/notesSlides/notesSlide18.xml" Id="Rad02b4657e444c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e02e9af1447bc" /><Relationship Type="http://schemas.openxmlformats.org/officeDocument/2006/relationships/notesSlide" Target="/ppt/notesSlides/notesSlide19.xml" Id="Rb43d5c790b9b45d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c903d653244c9" /><Relationship Type="http://schemas.openxmlformats.org/officeDocument/2006/relationships/notesSlide" Target="/ppt/notesSlides/notesSlide20.xml" Id="R540d0555332c4c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6f8c746074a6d" /><Relationship Type="http://schemas.openxmlformats.org/officeDocument/2006/relationships/notesSlide" Target="/ppt/notesSlides/notesSlide21.xml" Id="R51b4ff2d72184d5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084f2d2b44e62" /><Relationship Type="http://schemas.openxmlformats.org/officeDocument/2006/relationships/notesSlide" Target="/ppt/notesSlides/notesSlide22.xml" Id="R4ca72b75e3df41f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4a41820314088" /><Relationship Type="http://schemas.openxmlformats.org/officeDocument/2006/relationships/notesSlide" Target="/ppt/notesSlides/notesSlide23.xml" Id="R01dfd5d05277447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2c98ef4824e53" /><Relationship Type="http://schemas.openxmlformats.org/officeDocument/2006/relationships/notesSlide" Target="/ppt/notesSlides/notesSlide24.xml" Id="Rd68355a5df0f494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c0e999a714307" /><Relationship Type="http://schemas.openxmlformats.org/officeDocument/2006/relationships/notesSlide" Target="/ppt/notesSlides/notesSlide25.xml" Id="R317f2d4be2ae49b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4de3e1cfe48fc" /><Relationship Type="http://schemas.openxmlformats.org/officeDocument/2006/relationships/image" Target="/ppt/media/image3.png" Id="R33c84f7ffd0c45b6" /><Relationship Type="http://schemas.openxmlformats.org/officeDocument/2006/relationships/notesSlide" Target="/ppt/notesSlides/notesSlide26.xml" Id="R00c64e32ba034d1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356efd76e440f" /><Relationship Type="http://schemas.openxmlformats.org/officeDocument/2006/relationships/notesSlide" Target="/ppt/notesSlides/notesSlide27.xml" Id="R6f00efef1e534ae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56a8b277f4906" /><Relationship Type="http://schemas.openxmlformats.org/officeDocument/2006/relationships/notesSlide" Target="/ppt/notesSlides/notesSlide28.xml" Id="R5e19568836cc489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dd208ee8b47e2" /><Relationship Type="http://schemas.openxmlformats.org/officeDocument/2006/relationships/notesSlide" Target="/ppt/notesSlides/notesSlide29.xml" Id="R7921deba6faa49b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9163218594ef1" /><Relationship Type="http://schemas.openxmlformats.org/officeDocument/2006/relationships/image" Target="/ppt/media/image4.png" Id="Rd4f8e67d97514143" /><Relationship Type="http://schemas.openxmlformats.org/officeDocument/2006/relationships/notesSlide" Target="/ppt/notesSlides/notesSlide30.xml" Id="R9536d31453454a5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97f4f532f477e" /><Relationship Type="http://schemas.openxmlformats.org/officeDocument/2006/relationships/notesSlide" Target="/ppt/notesSlides/notesSlide31.xml" Id="R8b580bbb87684bd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3bdef1bfa4d52" /><Relationship Type="http://schemas.openxmlformats.org/officeDocument/2006/relationships/notesSlide" Target="/ppt/notesSlides/notesSlide32.xml" Id="Raaf80ec3f7d541d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42a7e6b8e4707" /><Relationship Type="http://schemas.openxmlformats.org/officeDocument/2006/relationships/notesSlide" Target="/ppt/notesSlides/notesSlide33.xml" Id="R29b6ec1627f54ee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0c14ce7234525" /><Relationship Type="http://schemas.openxmlformats.org/officeDocument/2006/relationships/notesSlide" Target="/ppt/notesSlides/notesSlide34.xml" Id="R7908174269944b7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f6f5e9a984f0e" /><Relationship Type="http://schemas.openxmlformats.org/officeDocument/2006/relationships/notesSlide" Target="/ppt/notesSlides/notesSlide35.xml" Id="R1796885655bf46e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19b3dde954134" /><Relationship Type="http://schemas.openxmlformats.org/officeDocument/2006/relationships/notesSlide" Target="/ppt/notesSlides/notesSlide36.xml" Id="Rd65bce4d837e47e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b9b15b1fa4402" /><Relationship Type="http://schemas.openxmlformats.org/officeDocument/2006/relationships/notesSlide" Target="/ppt/notesSlides/notesSlide37.xml" Id="R7527b1a3fe92494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0c2444c0a4086" /><Relationship Type="http://schemas.openxmlformats.org/officeDocument/2006/relationships/notesSlide" Target="/ppt/notesSlides/notesSlide38.xml" Id="Rf27f0b79065d45b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f458b07114eb6" /><Relationship Type="http://schemas.openxmlformats.org/officeDocument/2006/relationships/image" Target="/ppt/media/image5.png" Id="R6ce7a7b570f54fda" /><Relationship Type="http://schemas.openxmlformats.org/officeDocument/2006/relationships/notesSlide" Target="/ppt/notesSlides/notesSlide39.xml" Id="Rff0a711d060e46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8b35a527442a3"/>
          <a:stretch xmlns:a="http://schemas.openxmlformats.org/drawingml/2006/main"/>
        </p:blipFill>
        <p:spPr>
          <a:xfrm xmlns:a="http://schemas.openxmlformats.org/drawingml/2006/main">
            <a:off x="685800" y="7239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B618F-18C4-4B2B-A41B-05DC1E17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Magneto‑Electro‑Optical‑Microwave Transport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D082B-922D-4966-81B7-2DE92C4A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FE6E1"/>
                </a:solidFill>
              </a:defRPr>
            </a:pPr>
            <a:r>
              <a:rPr sz="2100" b="1">
                <a:solidFill>
                  <a:srgbClr val="9FE6E1"/>
                </a:solidFill>
              </a:rPr>
              <a:t>Transport_NH 图形界面完整使用说明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58F65-AEF7-4D88-9BE0-E18AFAAA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7EE"/>
                </a:solidFill>
              </a:defRPr>
            </a:pPr>
            <a:r>
              <a:rPr sz="1350" b="0">
                <a:solidFill>
                  <a:srgbClr val="D6E7EE"/>
                </a:solidFill>
              </a:rPr>
              <a:t>依据 2026‑08‑28 最新开发版源码 · 九个模块 · 控件逐项说明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FA845-3E45-4D23-B2CF-07E0BC8F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4C2"/>
                </a:solidFill>
              </a:defRPr>
            </a:pPr>
            <a:r>
              <a:rPr sz="1275" b="0">
                <a:solidFill>
                  <a:srgbClr val="9FB4C2"/>
                </a:solidFill>
              </a:rPr>
              <a:t>NH &amp; Prof Chen’s group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4D99C-8293-4E38-A6B7-675BC590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C94AE-547F-4BEA-8ABF-5F9E5665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7EA56-30F2-4270-B995-BA3B57C4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0209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B64B5-F989-4E31-A887-1D49DF6D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C319E-8E1C-4C0E-863B-88F4F7A9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阅读指南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D240B-16A0-4C11-A8CE-7159ADE5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本说明书的使用边界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1AF01-9ECA-41BA-BD86-65C2DB62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ED047-96E5-4E29-A5B8-AF3586D8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896D7-D4F2-4518-9617-7D2CA84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适用范围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452E5-1940-4DF0-8E10-38D18E71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83A65-85CE-42CD-82B7-6166789B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唯一依据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6EFB0-9953-403D-A7E0-28DCD331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以当前 dev 源码中的真实控件、默认值和回调逻辑为准。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87748-BED0-4A3E-8331-96C9029B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覆盖内容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F8A72-605A-4F1B-A3E8-E3414795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九个页签、Camera Live、ROI、扫描、保存、急停和退出。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CC3DA-B37F-4DC8-BCBA-4E511FDF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培训用途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AC26C-38E7-4B3E-A6AA-E7554BCC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适合新用户上机前自学、实验室交接和现场核对。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F090C-EAC7-4464-A353-489476E3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硬件边界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C4ADE-AFFC-4321-8EC3-14AF205F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离线检查不等于相机、串口、GPIB、PPMS 或 Windows 实机验收。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CFDC9-3B7E-4BDA-87BB-3C713FAC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阅读方式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B98FF-35D8-4224-AD59-594E0BFA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45D6B-9F8A-402D-BFCB-8189D641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先看模块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0EB64-6534-44A7-826D-E4859D32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先按页签定位，再查看对应控件表与操作顺序。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8902D5-B024-4810-970B-0C92B045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再看安全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9B044-027F-4E8D-ADD5-658F0AB3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所有非零输出、运动和扫描前，必须完成硬件侧确认。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78015-ED60-431B-9DFA-95A8B630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最后看保存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0D99E-00A7-44B6-9707-5C3A5125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理解 CSV、PNG、16‑bit 原图、差分图和视频的区别。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457C68-D274-4D93-80C3-ECBEBC52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异常处理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321B5B-8B9A-434D-B2C6-64217F97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优先停止/归零；不要用反复重连代替排查占用或硬件状态。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84BDB7-A35E-4F78-B5F8-565A7253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57EDE8-6793-46A7-BE54-88C7E5EA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930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20361-F061-4325-B222-1FF8CEFD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B2F8C-E4A6-4AFD-B3E7-8ED30767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系统导航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A82E5-9253-4306-8E13-F424FDCD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九个页签：从光学成像到微波输运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94AF6-5D87-422A-9E2C-603BB67B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4671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A8E6E-74CB-416D-A573-E16AC257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MOKE光源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0C6DF-D129-4420-A758-75935DD6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相机、四路 LED、检偏器旋转台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7B6CE-0BDA-446A-808C-22C7D64C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352550"/>
            <a:ext cx="34671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AD019-2BBE-47CB-9110-753D8433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049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MOKE电机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06C0B-1E41-4081-854A-538B2FE0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4785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Cell‑VSDM 位移与 Home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E5E96-6650-4FB9-83E3-9733339B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52550"/>
            <a:ext cx="34671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5F4"/>
          </a:solidFill>
          <a:ln xmlns:a="http://schemas.openxmlformats.org/drawingml/2006/main" w="9525">
            <a:solidFill>
              <a:srgbClr val="008D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4AC6E-0CF4-4201-BE9E-2E4E21EB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MOKE磁铁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AB194-978F-46AE-9CF7-8B331122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差分成像、磁场、电流扫描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57DE9-61CE-46BB-A75C-2898C280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34671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7A22B-8C49-4CC3-8F86-D8501DCA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2410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D928A-F56B-49C1-9FE1-CEF5540D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电阻监测、电压扫描、ROI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000A9-2EE1-4CCB-AE43-4AFF898C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76550"/>
            <a:ext cx="34671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AD2AE-AB53-4FB6-BB38-9C48B2EA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289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6221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5DD54-DC23-4152-B4DE-6DB9682B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7185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AC/DC、有限脉冲、脉冲扫描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3AE15-E86B-4587-9B7F-10B6D165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34671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3CCFE-6115-49E3-85D2-69ECC907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IV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1AD65-EA2B-4885-8BFC-3AF714AB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6221 + 多种电压读出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5AD80-517C-4608-B6CB-7674D96E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34671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EC06C5-9166-426A-BF8B-0CD8D8C6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Gate‑VI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ADB42D-50CD-4918-A766-59DBE933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2410 脉冲门控 + 6221/电压读出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792CB3-A4CE-460B-895F-E69951CC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00550"/>
            <a:ext cx="34671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14E8F-000B-483D-BAA5-CD8AA65E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529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PPMS1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6EF00F-BC70-4C41-A7F4-FB7F6572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9585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环境控制 + 6221/SR830 扫场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224B82-482C-412A-87D7-1CFD33CF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34671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5F4"/>
          </a:solidFill>
          <a:ln xmlns:a="http://schemas.openxmlformats.org/drawingml/2006/main" w="9525">
            <a:solidFill>
              <a:srgbClr val="008D8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818287-4EAF-4D68-9685-8455F3F3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529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STFMR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D371D2-61CE-48F2-A40B-7554D92F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9585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4886/475/PNA 的 FMR 扫描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848358-2033-4F65-9CDB-35282395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63A305-9CAF-41E2-BE34-3F4E534E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73838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9C104A-8E0D-4A19-8F20-BF15AFC0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0927E-4AB3-45EC-94ED-2A66CD5B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安全与状态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8AAEA-E531-467C-BBCA-15F0118F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共用交互规则：颜色、使能与危险动作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0D913-95C3-486F-B878-F0175C52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1163300" cy="50863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39F11-BF9B-4B9B-A603-54ED37D9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0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775AE-B3C4-4876-84F8-60593AD7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90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灰色圆点 / 未连接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D9E3D-EA64-4A0D-8B95-7A5696FB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906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资源尚未打开；相关操作通常禁用。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45A23-B798-4E7A-842A-BFFEA027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D8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69FED-39AC-4745-9B2E-D7C9514E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38B8C-BA0E-49CD-9F6A-4E27F947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绿色圆点 / 已连接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8A6E5-FEF9-47E9-996A-9CF89811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812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仅表示软件会话建立，不等同于已完成硬件功能验收。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676F5-CDA5-4199-B0E4-A8EFCEF5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D8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CF49B-2889-4AA6-9CE6-CA70E727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0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50E76-EEBE-4CC3-96BB-7E97E810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灰色按钮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5CB08-C97E-435E-A35B-4C3C01D9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717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当前状态、缺少连接或缺少安全确认，不允许执行。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2A38E-F5ED-41B3-AE6B-5015099C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D8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0A002-43AE-4837-8163-9BDC9A1F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60250-2D00-468E-BD04-BCA59F25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红色按钮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AA0B6-6FBA-4361-9545-B19E5EF7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623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停止、关输出、归零或紧急动作；优先级最高。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90057-0A0F-41CF-B5BD-F1109C02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D8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D0A07-58C2-4863-90AD-EAA82FC4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6DCFAF-5369-4239-A170-4A74C0B6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安全确认复选框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300AB-0FE1-4DD5-8337-9A57CA43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528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确认接线、极性、限值、冷却、机械路径和人员安全。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29AF2-2E49-428B-A0A3-4BED18A0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D8E0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A59F6D-27C2-4BFA-B578-E8B2B690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0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37A04C-B755-4F56-83E3-E3B2368C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连接 → 参数 → 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17299F-F97B-4320-BD1B-7FF8982B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434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先连接并读取状态，再设置小量程参数，最后允许输出。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4F2BCC-9EE4-4B3D-951D-86DBC880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D8E0E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E98FE0-D1C5-4556-8A81-A08B29E4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0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08CE0C-9281-40E5-8705-61B49C58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保存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8A03CE-2536-4D74-9FBC-CCDB8816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339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优先在扫描结束后保存；同步图像会显著增加磁盘和处理负载。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D2B209-9B58-41D4-9D88-B92841A6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solidFill>
              <a:srgbClr val="D8E0E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F17C8-1AE9-4CE4-A33A-6022AE52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0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DF8FC4-E0E8-4093-AB81-3567649C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324F"/>
                </a:solidFill>
              </a:defRPr>
            </a:pPr>
            <a:r>
              <a:rPr sz="1275" b="1">
                <a:solidFill>
                  <a:srgbClr val="16324F"/>
                </a:solidFill>
              </a:rPr>
              <a:t>退出程序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BAAD55-F605-41F3-8E27-FE9B9200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2450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程序会尝试关闭输出与会话；仍需核对仪器前面板。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2E6308-4717-4088-8EA3-E35BAAFE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42CC98-447C-490D-8B75-6C2796AE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6421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F381A9-C6EE-4EED-8E14-2B8751C3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CEC4E-B6EB-48F1-985A-16935E86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AB9A1-3FEA-4184-8E30-A5F7A75A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MOKE光源｜相机入口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A2901-D7C9-4DD1-A2F6-EEE38B83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19963-0BFD-4D05-AF08-C56B5F33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1FFD1-27DA-46D0-8750-2F59187C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相机控制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9DDB9-F9E3-4C8B-8BED-98935D8A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B58BB-4A57-4822-9D25-98E7F4C3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连接相机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0DA93-C882-43B3-B2D2-F909A93D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创建 PCO 相机会话并开始后台采集；连接前不采集。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2D9FD-FC4D-432A-80DD-200A09C1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断开相机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56352-7AA7-4092-8EC2-3E7C2C6B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停止采集、释放相机；相机画面和相关按钮随状态更新。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5C7AE-B060-4FC8-A7DE-BB5174D6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显示 Camera Live 窗口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DB473-0404-4633-9209-362CCD6E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展开独立实时画面；不会重复连接相机。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02592-0F04-47A9-AB84-954DCB5A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收起画面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DA654-3D79-4F32-A1D3-EC763B2B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隐藏实时窗口但保持已建立的相机会话。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3D95F-55FE-4C6E-A26A-CB350B67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Camera Live 作用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4521C-3B2B-4A85-95A6-4E2ED3A5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CF352-6EF5-4FA9-8750-A68EA094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实时观察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FFA14-BD75-4D8A-A220-0C032CDD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显示当前处理后的 8‑bit 画面、角标、曝光和对比度状态。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D722E1-E667-4147-B883-DB9FDFD6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ROI 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F1B402-4898-464D-B382-85EDAFB3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Shift + 左键拖拽选择 ROI；普通左键拖拽用于平移。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45887-8975-4B1B-8E25-B4D62C25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MOKE 共用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BE860-635C-4EA6-BCC9-C0E2553C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MOKE、2410、6221 的 ROI 与保存均读取同一相机数据链。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14BF0-9A97-429F-92BA-32FED4E7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旋转规则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E895D-4808-497D-BAEA-A1F1E6D3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原始帧先逆时针旋转 90°，角标 1/2/3/4 同步旋转。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CAB206-BD57-4531-90E2-A9678D6A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269575-B19D-499A-A27E-708BF37C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3328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A1C1F1-321A-4ACC-9B5E-5BEACDE8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84C0A-89B7-40B7-8232-42CAA3E2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8CEE6-6713-474D-A5D4-160D14CC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MOKE光源｜LED 串口与全局控制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591B9-34BE-4F3D-8F1A-1D1E2D0B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1B389-648B-417E-A2EA-67A17FF6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49AF9-CAE3-4D41-8FB4-FCA049DF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连接区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FE09C-521C-4392-AD51-27247538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3FB0F-365E-41AE-B642-7EC19E40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LED 串口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8B725-8F2A-41CF-9929-7F8B63A3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选择 COM 资源；默认链路为 COM5。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422B5-B9A9-4720-909A-E9CF8BDE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刷新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E0936-AE8A-42B6-870B-F9302712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重新扫描可用串口。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E4A17-471D-4E50-8D4F-72D63591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连接 / 断开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8155C-B724-4EC2-BF31-A481497A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打开或释放 115200‑8N1 串口会话。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963A1-CC91-40F2-B98D-F3BEBB0A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显示日志 / 隐藏日志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9418C-4818-40B3-8412-7C7E8C14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展开或收起 TX/RX 通信记录。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F7DAA-5849-4707-A498-8DD56947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全部归零 / 紧急关闭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B4BBE-B03C-4BA8-9035-A28FA06B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四路设为 0 并关闭输出；异常时优先使用。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40B5B-430D-40B8-B976-5E98C049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四路全局控制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21E9E-8912-42B7-8A1A-148CABDB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A365C-83BE-49B0-9ED9-B4CC3C6C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0 / 10 / 50 / 100 / 500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144CC-A60F-4331-9512-E29E88AE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把同一电流预设写入四路输入。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D6C5D-2EC4-4777-BCDE-A1D6D6B5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四路连续开启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DA077-F18B-48B3-A83E-DB0D0013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把四路模式统一切换到连续输出。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4DAD13-7D28-49F9-ACFB-A9C2021E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应用全部 / 查询全部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314EBD-8E82-404C-9CD3-92AFE3CD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批量写入或批量读取四路状态。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A309DA-D3E7-46AD-A89E-AF4B180B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设置四路连续电流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307244-6AEC-49B0-9136-77050C2C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把输入值同时作为四路连续电流；上限 2000。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C22AC7-75DD-4108-B913-4493A143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设置后自动回读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996A7B-F515-43F8-B8E8-7B43268A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每次写入后立即查询；用于核对但会增加通信量。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CBA2BB-DE55-4CFF-B399-0A601DD7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显示并编辑高级参数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BC6E9A-CB16-4804-AC3F-652FF9DB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展开每路 p/g/d/f 高级脉冲参数。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8E6FDC-B9DC-4D6B-BDAE-D3E34BA9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8A1EB7-8C94-43EA-9572-467A8C2F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65285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DA1130-2F4E-4F90-8BD0-E9B2A21A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93716-F4AD-4E7D-9025-7B88D922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98604-F771-48E6-93BE-27F185F6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MOKE光源｜通道、ROI 与检偏器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37B27-6A77-42B1-8ACE-D94E5260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23843-1A6C-4BEB-9301-1DBDB02F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BF150-5C54-44B6-8853-0D2F6BA7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每路 LED 通道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92CA5-F632-42D8-A53F-B6774DFC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96F47-0131-4877-885C-2CC491E2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电流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CCB6E-D6F0-44C2-B17E-85DBF486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输入该通道电流值。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E6766-1C6F-42FA-856D-9055B64B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模式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C190A-ECDF-4E08-8C2E-0A67425E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选择关闭、连续或设备支持的脉冲模式。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37529-5D3B-47FA-BAC9-853DF4E8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368FB-65A5-44D3-8F67-FD6913A7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只写入当前通道。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FAB45-3823-408E-BC69-4C6E7D29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查询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36889-DB90-4889-A6E7-814AC6D9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只读取当前通道。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01B43-1F23-49C9-94C6-76A79F73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p/g/d/f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ABD97-3A79-411D-AE33-5C06404B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高级模式下编辑脉冲相关参数。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F793EC-992D-4E18-8CF5-0F282A81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ROI intensity vs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1D097-1A10-4668-B854-027F73E9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绘制所选 ROI 的原始 16‑bit 平均强度，不扣背景。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506AE-8F12-421B-9A9D-E12C30D1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Thorlabs K10CR1 检偏器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AEE0C-B389-4B46-BB3F-83FC806A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38983-AA28-4913-AD90-940A35E9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连接 / 断开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1D850A-A6B7-43FF-94E0-C8834753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建立或释放 Kinesis 旋转台会话。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DF9280-7B40-4767-BB45-E3BE8CC2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读取状态 / 识别设备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0C461D-FB32-4E07-8E47-50CAC2AE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更新位置与 Home/Enabled 状态；触发 Identify。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D4A267-4AD9-431D-9DE5-2CE1DB80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安全确认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9EC1B-72FD-4E5E-804B-58981DCF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未勾选时禁止正常运动。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99BFE7-3C35-47E2-9333-022C76EF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相对转动 / 到绝对角度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5AC6AA-2077-49B0-B8F3-6A8C79D2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分别执行相对角和 0–360° 绝对角。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88A379-19F0-44E7-B132-C634BAF5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−微动 / +微动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1660A-3E91-4B62-BED1-4197568F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≤1° 诊断微动；未 Home 时只允许这类动作。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70329A-C78B-436C-A33E-A97E8ABB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Home / 立即停止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18D4DB-E6BC-4747-932B-DCDA8E87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建立机械参考；或立即停止运动。退出不自动归零。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3697FB-1EAC-47E4-81D6-48B644BD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1335FC-65BC-463C-993B-FC53B9B6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22025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0B7235-3581-4F97-8A08-35382218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62853-14A0-4890-86B3-EC4B1B24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163AE-E7FE-43D1-978B-50AE5A4A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Camera Live｜鼠标与快捷键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00261-E62F-4BB5-9E7A-B3B9598F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2C748-A1BA-4931-A268-7BD5FDC7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A1E22-8A17-4B45-8E07-E0382042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鼠标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2BBEB-46C4-488C-B863-F990FCEB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8C9A9-23A4-40B4-9115-B31E794B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左键拖拽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A7ADD-D03E-4500-90C5-4F8CBFAD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平移当前显示视野；平移范围会被图像边界限制。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E378F-B11B-4057-BE17-3D504C1B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Shift + 左键拖拽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5CB4E-2196-475A-8482-2B7723F5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新建/重选 ROI；2410 扫描期间禁止重选。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F4307-F248-4507-9D53-370E431C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滚轮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9F97D-7440-4403-9CB3-E4F0CBF2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围绕鼠标位置缩放视野。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0B99B-6C49-4D0B-92D1-2FFB64E4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ROI 清除快捷键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6B6AA-E485-46B8-937B-91427B58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清除当前 ROI，实时曲线回到等待状态。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E43E9-00B4-4043-97F6-6F4B0C54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键盘状态控制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60F9A-8817-4852-B4D4-90DBA5D3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8F4A3-D1CD-434E-AD96-57FC116F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A · Contrast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3C262-6A65-43EE-A3B1-9ABEB42D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切换自动/固定对比度；自动对比度只统计当前可见区域。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FC52D-A280-4EF3-B244-30060C11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B · BG on/off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5D864-96C1-405A-A451-9433ADFD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开启或关闭背景扣除。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4E0A9-58D9-477A-94C4-0039E1BB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N · new BG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F150FB-5DB8-4A0F-9BE6-D7CE017C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重采背景，并把 ROI‑time 横轴重新从 0 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0F800F-A3D4-4F29-8454-AC5DA4F5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R · reset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0819E3-18FE-4554-98AF-9DD6690D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复位缩放和平移。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514436-5055-44CF-B77A-97C4B86B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M · marker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343D14-A244-4997-BD93-46A57730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显示/隐藏 100× 视野 marker。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69757B-02FD-4373-9F34-8BDF0EDF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Q · quit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284911-A4CC-4DB4-AD4A-B0381426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关闭 Camera Live 窗口；不替代主程序的安全退出。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9C1A0D-DC1F-4340-8F65-BD0B3DF3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038070-57CE-4833-91CD-9675BAB5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38109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C76FB5-D899-4499-BC8F-9A6365B1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A3905-4E55-4458-817F-D33FCDBA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77886-3E45-4B9F-9205-20BDF4B2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MOKE电机｜连接、初始化与状态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CCF0C-5117-436A-A2F9-168DBAE5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07414-7285-4EF8-9A1F-BB0B07E2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F0127-395F-4288-812B-3900A216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串口与输出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F9E75-D887-4B7F-A6E7-312FB27D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02EC9-4391-4CCA-870C-1DC545B8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刷新 / 连接 / 断开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62CCC-60D9-4F82-9755-F096FFEE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选择并管理 115200‑8N1、地址 1 的电机会话。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C9080-100B-403F-BF15-D1A54878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Init 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3CA44-917F-4136-B62B-5B6F3454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初始化 Cell‑VSDM 输出。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F5EA9-A032-4648-A963-6F410F79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Init OFF / 停止输出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7572B-004A-4043-9B0F-4050265F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关闭初始化并停止驱动输出。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71B7E-F88A-45AE-AC00-E95C94F9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安全确认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66980-32FC-4F22-AEC6-03FB7796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确认机械路径、限位和方向；勾选后连续微调不会自动取消。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880FF-FC6B-4AE7-B180-E210D18E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状态与参数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14F8F6-58A2-4DEA-A31D-571BACF0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1A865-1A4D-4A77-ADA5-D5711832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读取一次 / 连续读取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85C14-753C-446A-9F99-24245E26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读取寄存器 4 和 Home 标志；它们不是位置反馈。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F1B3B-FDED-4470-82DC-BF65A74F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方向 Mode1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EFB6C-A62C-406E-834C-E783BD8A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当前方向模式显示。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05BBCD-B9FD-435E-A68C-B02D618D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速度 / 加速度 / 减速度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5AD95-64DE-40DD-A69D-295AFF5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设置 rps、rps/s 参数。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3424D-B0A1-4864-A255-9C676CAC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应用参数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8D49F-D0F3-43EA-997D-710A348E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只写入运动参数，不启动位移。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E4E31-37CC-4000-B1FB-44408C21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显示通信日志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F77F97-77F2-4F19-BC81-1954E69C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查看 Modbus TX/RX；再次点击收起。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4290DA-1444-4AD5-9051-73302009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FCCB22-9BE7-4094-B41C-252673DF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988839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477516-1B9E-4200-8913-E5624BC2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E5ABD-1EE9-424D-B20D-F6F381DC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02B15-5728-4162-B7E1-80651F65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MOKE电机｜位置、步进与 Home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CCDEC-55B0-40E4-A08F-C41CD0FE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AB266-1217-4CFC-9D09-293682E0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117E3-C7AA-479F-A535-5B4D4FD5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位置操作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3BDC6-1082-4106-A464-E3B8D8EB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06A70-A368-4DAB-9A1B-33AE48F3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到达绝对位置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2DF76-1F6C-42CA-BF13-EE4689A0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按 µm 输入目标并写入；先确认安全和运动方向。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AEFCF-14F0-4F9C-ACAA-108F320A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7250 µm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4686E-09D6-4C42-9631-782F7ED2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快速到达固定实验位置。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A8081-AF1D-4476-8082-247A5F02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Home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F5D89-FE02-487A-A3A7-9C1E1A63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已勾选安全确认时直接执行；未勾选只弹出提醒。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C408A-EBB5-41A4-91BB-EA93CF94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步长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060A8-3292-4CFC-982B-6D0E069A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输入单次微调的 µm 增量。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BFFB7-2D05-44D0-AC05-1CA225B8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↑ Up / ↓ Down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6951A-7802-49A7-993E-B38AF9B0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按设定步长连续微调，不弹窗。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51FB9-96B4-4B0E-BB82-950EA65B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理解显示值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52965-7E13-4911-B353-AD12029B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4FC8B-EFA0-4D8D-B3D5-0C818E34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软件命令位置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0483B-0D8F-4304-AB92-48777849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只记录软件最近命令，不是编码器反馈。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59A69-35FE-444B-884A-C6CEC307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寄存器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02DC6-258A-4FEB-8632-1E49D66B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设备状态字，不应解释为真实位置。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EDF3A-438A-4FFB-8CDD-08F4684A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Home 标志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ECFF96-DBB7-4496-A852-3DB28805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寄存器 5，用于判断归位触发状态。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C6C9F-28E1-4DEA-AB08-6E85DB8D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抓包比例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04504-83CB-42F7-983C-72632F29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绝对位置 ×102.4；步长增量 ×25.6。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F65C28-FD4D-4224-BFB6-BD226BFA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急停原则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4DCE83-AD91-468E-9262-6A63C029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异常时先 Init OFF，再使用硬件急停。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FE3C01-95D4-4EFF-8B77-4C8E6511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9B2207-DDD5-4958-97FC-B8AC7F49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98076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B2F59A-44B0-4D9C-A7FE-289431E9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99B52-2BEF-4111-A5CE-BCBA69E6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4D2E0-F39D-4B21-99C9-8E392DF2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MOKE磁铁｜差分模式与串口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57652-1A97-49B5-814A-D4C5FEAF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41139-D1F8-4572-AE2C-DD6C64D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2E85A-9426-441B-AE66-26B31FDE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差分显示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F44BD-631D-4ADA-AB2B-58EBFF0F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D4837-13BA-4397-8DBB-8863964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关闭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A5264-7856-4E8C-AEC7-2292AD99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显示普通实时画面。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F4C37-7326-48F1-AD2E-9033FC53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普通差分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88090-BBD7-4C97-8502-F169695F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当前帧减去一张固定背景。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C0435-3C2D-4C97-8700-29AC04D2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漂移追踪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F74E7-ED14-400C-9722-EF1C1C51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在扣背景基础上补偿漂移。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F7E7B-45AE-4FB0-BE5C-F4B9B3E4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重采背景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1813D-DCAA-4B3A-A6B3-BCC09BE5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重建背景并重置 ROI‑time 时间零点。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EFB82-A240-44BE-9304-51FC6F1A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添加100× Marker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DA7B5-6052-41A1-9755-ECCAC58B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在 5× 视野中标记切换到 100× 后的预计视野。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205B5-5231-4AE2-989E-060468CB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KEPCO / 高斯计连接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58B118-1F8F-41C9-AF44-D2901D1D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711139-BCAD-40A0-8379-02B03743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四个串口下拉框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5EC0A-D8FD-4547-A858-8B4DB18D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分别选择面外/面内 BOP 与高斯计端口。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F12B66-D4A8-4FD4-9542-F6C7C34F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刷新 / 连接 / 断开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46B8B6-C6B1-4FB6-9E12-E2C2E59D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枚举端口并管理四路串口。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03D733-A259-4127-BA52-DF599B42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实体拨挡片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717DA4-D7EC-4525-899B-8738AA61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GUI 必须与实物处于面外或面内同一档。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337F33-9AAF-4A55-B70B-B0002717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当前档使能/归零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7C150-62BB-4589-9554-0C4B0A1C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使能当前档并先归零；切档前必须两路归零。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82B827-FDF0-497C-A6D8-033F2BD2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两路立即归零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FDF3DD-CA97-4CA4-A70F-E4627845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同时把两路磁体输出归零。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C50F9D-12FF-42AC-B477-7E542B27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A8DA61-B9FB-4F99-B18C-BB96422C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161370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53164F-1882-4F06-BA7E-5712A1A6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43BE7-91F6-4FE0-928A-665545AF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CB31C-6254-4813-A1B6-EED8B0C8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MOKE磁铁｜单通道输出与高斯归零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12DFB-25E3-416A-9E4E-46A04F0F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C3ACE-4B73-4A35-8D93-6E6C3A51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2F9B0-D5A0-4DBE-A6FC-39A842B0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每个磁体通道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FE682-6072-46AD-8844-27AE3653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4C7D2-E97D-44EA-8116-BCF5DEB3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目标 A + 写入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00D0B-BD46-41B1-942C-F945EA87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写入目标电流。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12869-2F6D-4455-99AF-39350989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反转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21DD7-29C0-47AE-958C-F70C7203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把当前目标电流取反后写入。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BEDB8-16C5-43E3-8F7C-A8D27B67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电流归零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BC236-DAD2-4C60-A3ED-67AC9520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把 BOP 电流设为 0 A。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AE626-0517-4CAE-801E-6A7C7D80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磁场归零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63E6C-AC60-4F21-BD28-416AA70F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闭环调节电流，使相应高斯计接近 0 G。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D0DAB-5F11-480B-B74A-75B86A1C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I / Field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3E071-3589-4130-9F51-32455A80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显示电流回读与当前档高斯计读数。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B7458-5552-406B-BFC9-2D4D2BF1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步长 A + Down/Up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2EC83-960D-4D8A-A5AD-603B8AD2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按指定增量降低或提高电流。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FD77E-470F-44FC-9A0F-94A6F827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读取与互锁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368FB-FB38-43E5-AA65-4B4BD8F2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0C814-DC99-4DE4-BEC8-37C9C81F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读取当前档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0084F-0FCE-4BD7-91DF-8714072D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立即读取当前实体档的电流与磁场。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BB4B34-CB38-4FCA-9915-606378C8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连续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DCCCC-0B87-4855-81B9-EA644593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按间隔 s 自动刷新。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374F2-221B-4C58-911D-38F8FB72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间隔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92791C-3D02-4CC4-A313-D9630446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设置自动读取周期。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DDD20D-F664-40EE-9A43-C3D89218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非当前档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75D13C-D709-48FF-B5EC-2FB0C678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显示为不可用，不允许把另一路读数误当当前档。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B9845D-DDD8-4F2E-B778-0921FE15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安全复选框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D3618E-2597-481C-BA85-51E5BB2E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所有非零输出前必须确认极性、冷却、接线和人员安全。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3FD46E-9110-4290-ADF6-10900927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失联处理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1E49B4-BF4D-4060-9F50-71B2A815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先停止扫描/归零，再断开并排查串口占用。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BD311D-9BD8-4C93-B2F3-95A28F09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A1685B-8B2F-4A1C-8C86-9C4D3AFB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15978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B77330-640E-4E8F-9C61-56C2A455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565B8-FD46-437A-877E-18F802F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C8DDE-9602-442D-8948-510ADFD3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MOKE磁铁｜电流扫描与 ROI 采集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117C0-7A4E-494E-BAA4-BBC5A423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F561E-D8CA-422C-902E-03DBCDC3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F4009-F6E8-41CD-9448-27F6D706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扫描参数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62D8E-D5E5-4DC6-B736-A91BBE8A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12E7D-2BCE-4389-BB0F-F4696CF1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起始 / 截止 / 步长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B61F6-5948-40DC-ABCC-B96BE371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生成起点→终点→起点的电流路径。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643FE-F054-4F74-81A9-C91AD3F5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D11B6-207C-417A-A07C-ED840382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往返回线次数。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55CE4-1C81-4612-8C42-BF969C8F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稳定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57DA5-9181-44C4-B980-3699810B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到达电流点后等待。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27A16-8465-40FB-9746-3AB3614B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采集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BF901-AA0B-409C-BC5F-E76EEEB3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用于 ROI 平均和同步图像采集。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FBF76-314A-4588-ACE4-60534763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开始扫描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E1560-A3AC-4E3D-B475-EEA65840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显示预计时间，确认后后台执行。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314DF-D018-460C-AB99-A1D77F9D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运行与保存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077E49-D533-42CD-B287-893EDF73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D0B71-DB8C-4569-A9F6-A8CB32B8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停止/归零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85756-F110-49AC-855C-5BE77607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终止扫描并把当前通道归零。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7E5FAB-1658-4820-A7E3-FFFBC66E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保存 CSV + PNG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5ADB7-3A20-449C-8C86-2700A9F1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选择文件夹，保存回线数据、右侧曲线 PNG 与参数 log。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BA861-5E2D-4930-AC2E-1578D84E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同步保存处理图像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51CB41-416A-4464-8157-2DBE68CF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每个扫描点同时保存处理图像；会增加 I/O 时间。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5B0CE4-406A-4D11-9290-1B3FD6DE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进度条 / 预计剩余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F60718-0175-4D94-90C8-A1F34A4F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显示当前点数和 ETA。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13B514-1F06-4682-AFC0-EF80A30F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右侧图窗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A52C50-6C56-4970-B9BF-1EDA291B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横轴用磁体输出电流，上轴显示高斯计磁场。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59B74B-5985-4ED0-B00B-42AD008B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5FD636-46CB-4905-913D-5CB9B70C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654325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ED90D1-2C72-469B-9701-D8A06A15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93632-0505-43AD-95EC-B9D28A10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E1C76-1C43-4057-9F17-446C01E4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MOKE磁铁｜ROI、CLim 与图像处理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ECEC6-7605-44ED-8899-F7706E9B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98DEC-F330-46E3-881C-BAD05F93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4D16B-D4CF-4F3C-B350-59A0816B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ROI / 曲线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36C1C-07D6-4D1A-BA7B-D46F1054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D3494-D081-490B-BAC8-FE6BF637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A± / W± / H± / X± / Y±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1E4D7-4278-482A-898F-E533965D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按可编辑步长改变角度、宽、高和中心位置。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0E402-4959-461B-9D42-60AAED8B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Field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04182-4A12-4342-B3CB-9D57E15F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选择面外或面内作为曲线磁场来源。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B8E97-32D7-4F3A-95BB-BE8C82A2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刷新 s / 点 / 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38D4B-E333-4B38-9C51-153FC075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设定 ROI‑time 刷新周期和最多点数。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A4278-CD54-4A51-99E4-A04059FE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清空曲线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BDF43-E6A4-43F9-B770-3CAFF347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清除 ROI‑time 和扫场曲线。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28C84-1217-4914-84C1-6F234251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手动 / Auto CLim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4F96E-24CF-49B2-B3E0-355A11B4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手动映射差分原始值，或按当前可见区域自动估计。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BB0513-34E1-4735-85D9-AE9B03C0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直方图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0FD69-D701-443D-B976-057E666C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查看 CLim 前的原始差分值分布。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EB075-94B5-459A-AB26-FA222226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降噪、曝光与保存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FAA4B-DFC4-425C-9ED1-C650B472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FE66C-1EA6-4560-9AE3-BF3104EB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0/2/4/8 帧平均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3A8E4-E9E6-4FBA-B76F-AFDDB358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对差分原始数据做时间平均。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51A875-BAE5-4570-9CDA-8D7DAF1E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1×1/2×2/4×4/8×8 Binning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8FE75F-14E9-44ED-8131-62D43A2B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对原始数据做空间合并。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E515E-888F-4926-95D1-9ADD3B15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Mean filter 关闭/2×2/4×4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10E2FB-BE59-4A98-B1D3-96813E88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滑动均值同步影响 ROI、扫描和处理图像。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D31279-22DC-4796-A931-C1792A44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曝光 ms + 应用曝光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FC58CC-BEE0-4B94-BD59-2628B6D1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把输入曝光写入相机。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97DBD-D1EA-4F44-9FE9-C6F9B8C5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开始录像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49A890-161B-4E21-917E-17E5E0B3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保存当前 Camera Live 的 8‑bit 无标记画面。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66547C-1C79-4D9D-AC1D-7943C08F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三种图片保存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0AF06F-520D-4666-B0A6-67842938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显示图、原始16‑bit、差分原始图分别保存，互不混用。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289533-B599-4B5D-A930-64B0E06E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9EB461-5C7F-4CC1-A6FB-A00C6AF4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83251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086D6A-5964-4736-BD4D-831219B6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5F20B-6605-4521-972E-62ACCB5D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644EF-37E5-4C9F-83C7-E1EE2C4C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2410｜连接、电阻监测与手动电压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F4713-451F-46FE-9C93-5B2CCC10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E0E4F-8D7B-462E-8572-90D95177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7DE84-6180-4A75-AEE7-D7ED1DA1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连接与急停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2C445-4A05-454F-9F9B-AB1CD80C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020BE-9E8F-48E1-BB11-A409B564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资源 / 限流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C5F19-B481-4A75-B439-22F1E56E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输入 VISA 地址和允许电流上限。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72370-C547-4AC7-96C5-5F405146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连接 / 断开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FC70E-A57D-4513-855A-90B61D13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管理 2410 会话与绿色状态灯。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436C9-EF05-4549-B38D-06E90C30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2410 归零 / 关闭输出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F85A93-35E2-4EFE-9DA6-509A3AE8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电压归零并关闭输出。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8A550-77CF-433B-9D64-410517DF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安全提示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43EB4-206B-463A-895B-283536B3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扫压最高 200 V；测阻时限压保持 5 V。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6A53-C144-4605-8CE8-F18096BD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|R| 连续测量 / 手动电压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CDAA8-41FC-4194-8D98-CD3E123F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AA4DE-2768-40D2-A423-F408C8E5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测阻安全确认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F8FA79-62C9-424C-B3F4-00F0CCAF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确认接线和样品允许测试电流。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DF394-A04A-406B-AA13-7133ED03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开始连续测量 / 结束测量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C1C08A-66CE-4B8F-8DE8-17B7AC1D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滚动显示最近 20 s 的电阻绝对值。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1E8FA-F800-410D-B292-227CBD9E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单独设置 V + 写入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BE905-1B97-4714-B766-9B38D76E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直接设定一个电压点。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83D568-315D-43D0-A8E1-9136C446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反转 / 归零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D10E18-74B1-45E3-93A9-10C404E9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电压取反或设为 0 V。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A30D95-47DD-4ECD-AFF0-9A0BCCCB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步长 V + Down/Up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915BF5-AF6E-4A23-ACF6-D9A6C572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按给定步长微调电压。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AB87C1-0EBA-41C5-836C-62593EC3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D96650-DBDB-4C7B-9C67-7B251549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100008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5C2FE4-62C8-462E-9AA6-73153C95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7D3D5-CD76-404B-83F5-7847E877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F7760-D181-4E4C-9D1F-A59797CD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2410｜往返扫描、ROI 与文件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DA4BA-F3C2-4870-A962-B1DA8E84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F7BD9-F3B3-402B-BAF6-C5B947FA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47915-8130-46B3-A6E8-F5C52FC5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电压扫描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C3BD7-F34E-4FE4-BCAF-115C8DB9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EEA69-782D-487F-B155-1FDC4917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起始 / 截止 / 步长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E9596-A919-44FC-B233-C0E1671F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定义起点→终点→起点电压路径。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3085A-0F97-405F-9C76-1964E45A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稳定 s / 采集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1439F-F8BD-4C27-B551-77517327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每点等待与 ROI 平均时间。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437A4-437B-41AE-A584-D4E199F3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开始往返扫描 / 停止扫描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F3241-7B11-4D1E-B13B-75A911D9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启动后台扫描；停止时关闭输出。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A08EE-91D0-47DF-934C-1702DCC5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同步保存处理图像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F570B-661B-43D0-BAFD-1E96159A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每个电压点保存处理图像。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58300-1A8C-4DE2-A46B-D97F4B81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保存 CSV + PNG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E03E3-4C17-45F6-9BE0-61C0196B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 Voltage‑ROI、参数 log 和相应 PNG；不另存 ROI‑time PNG。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FBFEA-8D1E-4A1A-9830-B74DAE5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ROI 与录像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55700-158C-4B57-AB00-E1FD8707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B4A96-C92E-49DC-994E-2683E50D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A/W/H/X/Y 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833D89-B7C0-418B-ACCC-99581647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和 MOKE 相同的 ROI 编辑。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BEBD88-A075-4BF7-B3AA-A50377E1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实时刷新间隔 / 最多点 / 应用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BD643-02E0-4704-BC2E-D7FDA9CB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控制 ROI‑time 显示负载。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3754D6-7316-4EC0-AB36-00BEF8ED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保存处理图像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4C4F02-1C0C-4B19-AE1A-67927945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保存当前差分/处理结果。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7CE969-B1F8-4F42-B9E8-DA9AE3ED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保存原始16-bit图像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52B27F-A29F-47C5-92C6-822C941B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保存原始相机数据。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955CE2-872F-4AB9-BB59-9836D85E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开始录像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BB89E2-2166-45B1-B7B1-0F8259AC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录制 Camera Live 8‑bit；视频下方标记当前电压。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8A7129-01D3-493F-90F8-A126ABC0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右侧图窗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F16CD7-58AF-4808-9EA3-5E99CE7D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只在电压扫描期间记录 Voltage vs ROI。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35F9BF-0AD1-4847-A055-214EAF82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811769-7720-4A5B-9790-8A096B5D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039641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4D575-476B-492E-876F-26C89F84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D4B3C-9D6A-45B1-9D9E-7A5EA490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界面导览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749B3-F835-4D9D-B039-CE673787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6221｜完整模块界面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03554-D52D-4767-9894-D5C704EA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8c942790141e1"/>
          <a:stretch xmlns:a="http://schemas.openxmlformats.org/drawingml/2006/main"/>
        </p:blipFill>
        <p:spPr>
          <a:xfrm xmlns:a="http://schemas.openxmlformats.org/drawingml/2006/main">
            <a:off x="3731002" y="1371600"/>
            <a:ext cx="4729997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AEEEF-3C36-427B-A97D-F1156A6A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当前 6221 页签：连续输出、有限脉冲、两种脉冲扫描、ROI 与双图窗。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6E7A9-3CEE-45B9-B0AB-1D4A5B1A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3E127-D33B-47CB-A929-2D853C9B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699895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B29DA1-67C3-490A-8C11-BF9AE5F2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BCFA6-A68D-4ED9-BFA8-DFD9D4DF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1020E-6350-44F8-A101-480BA623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6221｜连续输出与有限脉冲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E5310-C80A-40BA-B9AA-1E44D7B9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15FA5-CEA1-4BF4-B9DB-D9DFD83C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02F5E-7AE8-467D-81F5-B8E52F4A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AC/DC 连续输出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FAE26-800E-4243-B0F8-850EDAA4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5279A-F7D3-4BE7-A85E-545A03C8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模式 AC/DC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16C3D-FFE9-4A7A-BE8C-AED74973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AC 使用 RMS 电流；DC 选择后频率框变灰。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4DB8B-16EB-40B9-BC06-B2E1917E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电流 / 频率 / 限压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DFE4F-2D37-42BF-B5BE-9E4FA001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设置源输出、电流频率和电压保护。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63E76-EA0C-4C70-B389-F8415FDA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应用连续输出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E1934-CE6C-452F-BB1D-B0C67409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配置并开启连续输出。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03030-FEAF-45D0-BDD4-CEBA0E51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停止 / 归零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C3BDD-57B5-402C-8FC3-BA3791B0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关闭输出并把设定归零。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CC094-DE70-43BB-8F5F-01E36F51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实时回读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8F904-54D7-474A-BB33-0B67EB49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显示模式、I readback、f readback、限压、OUTP 与限压状态。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30350-A9DF-48FE-8269-CE33AD77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直流单极性有限脉冲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A8728-6475-4D03-912F-FFC8BDD3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EE79E-CD35-4AD5-8849-4D245EC0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脉冲电流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D8C58-2484-4196-B5B4-BDF1F3FA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0 A 与设定电流之间切换。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FA4A73-6377-400F-94BE-2D51E75F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高电平脉宽 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5F72C-FDA4-4920-B47A-820CD351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设定非零电流持续时间。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49E521-158C-4BF6-BEC9-94E9CBC8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脉冲数量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739DAF-04E3-4FA3-95D3-785E3827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有限 cycles；结束后自动回到 0 A 并关输出。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B697B-B47C-49DE-814F-4DE9AF43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限压 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34534E-B99D-4E9C-B8D5-174CE1E5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保护负载；限压后实际电流可能小于设定。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2EACC9-2631-41FB-BB03-31216330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应用脉冲输出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010784-95D2-4F70-97B3-81FE4DDE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发送官方有限波形命令序列。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E0B9BC-CDB0-406D-AFDE-C924C854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6221 立即停止 / 归零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4B24F0-4254-4F1B-8E4B-4DB020DB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任何模式下立即关输出。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D8F9E5-A177-4C84-A509-3519C204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174DBE-372E-4F5A-80F0-A4C92142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938436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918CD4-B60E-490F-A0B9-AD5735DD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6F4C9-2DF2-4F29-A84D-072706DF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9E2E8-13FA-42AC-B0F0-174CA27A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6221｜两种脉冲扫描与 ROI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88221-D558-4B47-8DD9-CED570A3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6189C-2D5B-4EA1-B34A-19C7F806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7BEF8-D811-444D-B1BA-7BC3C35A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电流往返扫描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BD037-C2DA-44FB-A1D5-FD9858BD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40FE4-7491-4ECC-9FAE-6B275626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起始 / 截止 / 步长 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E87F1-78B2-47EA-9350-92F4719B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定义往返脉冲幅值路径。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EC250-5BFF-44AA-83DB-06872CA9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脉宽 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47CEB-9B72-40FA-9C14-B56C5644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每个脉冲的高电平时间。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96D47-FD10-4496-AEC7-4596D468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采集/间隔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4CD8B-8CF1-41FD-8807-90FF607F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脉冲后等待并在该时间内平均 ROI。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DA98B-F1A7-407E-98F4-EB69F72E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开始电流往返扫描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2D94C-7576-463D-9A46-D47A5255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启动后右图横轴为脉冲电流。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29177-F715-4F0F-B80C-EBCA8A33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定电流脉冲采集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2E869-A3C3-4E53-B707-C4725102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470F4-8F5F-410B-B30A-41943CFD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固定脉冲 mA / 脉冲数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43F6D-9A5F-4008-9E00-A2FFF85F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指定同一幅值重复次数。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08717A-885F-43AC-A401-89D53567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脉宽 us / 采集间隔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25FB4-5B0F-4F84-863F-EA8031A0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控制脉冲宽度与脉冲后 ROI 平均窗口。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67A49-C73A-46E4-8594-D1B853BC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开始定电流脉冲采集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C19EE-E4F1-421C-BDBD-D7598C8A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右图横轴切换为脉冲序号。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74D2D3-DE4C-4016-B1B6-353DD203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同步保存 MOKE 原始16-bit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77FED2-4FA6-44E2-94DF-99E5EB7C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每个脉冲后在采集窗口末尾保存原始图。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F4DDCC-70DC-4E59-B242-827819A3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保存 CSV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8417D9-C760-4243-9FAD-481180B6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保存脉冲参数和 ROI 数据。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434E28-E4EF-4C74-8647-49F3C730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ROI/左图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E8A168-0F1F-4A13-8E31-37F5E13D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左图持续显示 ROI intensity vs time，右图仅记录脉冲扫描。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752363-F730-4013-95BC-FF49B4FD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4B7378-2936-4882-BCB3-F2D7840F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716826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FCA124-5B5E-4D98-B699-A45D4DC5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3F5C0-BBE2-4CE2-A92A-841A822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0C7AF-5FC4-4AB5-A453-E8E5E735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IV｜仪器行与独立连接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95C76-4E3B-478F-8C4C-AD28C34D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B8CF0-04EF-41D5-9F56-884161F0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AF748-3485-4F53-9FAE-AEFF51F3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6221 / SR830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6D89C-EC5A-49D9-AC74-8DC4B75E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FA8B2-9556-40F9-8025-78C94A41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6221 输出 AC/DC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425B6-559D-412F-8294-34EA5401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选择源模式；DC 时频率不可编辑。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2FF0E-2474-4789-ADC0-F0EAC593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每台仪器连接 / 断开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BF0CD-6A34-4D67-81DC-DFFA3CB2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6221、#8、#9、MFLI、2182A 独立建立会话。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06FE7-D134-4814-8030-A961B5A3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SR830 输入耦合 AC/DC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906EE-18E4-41B4-B09F-69DE2D24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设置输入前端耦合。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530E1-9976-420C-8241-179F5E53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倍频 / 读取 X/Y/R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42707-85B0-4AE5-B757-301655F8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选择谐波和记录量。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19644-2884-411B-9899-71EC83E4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参与扫描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051D8-CF2D-4612-8645-BBBE708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可只用 #8、只用 #9 或同时使用。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880DD-954E-40A1-959A-35E89891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MFLI / 2182A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18E28-772C-47D6-A26B-8DF5F78F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29301-7EA9-4A0E-8532-4DB08741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参考接口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73769-FAD1-425A-95A1-9EE4B98B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Aux Input 1/2 或 Trigger In 1/2，实际写入相应解调器参考源。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332ABD-79CC-4EAC-9D9A-C17F667B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输入耦合 / 倍频 / 读取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D38555-2A10-4C1C-9DB1-DBE513CF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配置 AC/DC、谐波和 X/Y/R。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850529-1C20-4B87-BC0C-3DDDD8B5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参与扫描（自动量程）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36FB5-95B1-4B68-8ADA-2C85843A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扫描时启用 MFLI 并动态调整输入量程。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19B9CC-316F-4610-B845-63099688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阻抗 / Scaling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C299F3-77AD-4AC8-8191-AB9BC433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可选 10 MΩ 或 50 Ω，并设置缩放系数。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758F3F-E41D-4C27-8CF4-11B3E2DC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2182A 参与扫描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4B17FC-45D9-4B29-9C9A-F1943D0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读取通道 1 电压；不绘制 theta。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59E423-1BAF-4950-B1FE-51AC3EBA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4AC578-2A93-439D-9612-0E1F5EB5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523218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88D36D-2553-471B-93AC-D1909AA3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EAA68-40FB-4314-BFD3-CAA29D63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30879-697B-4239-B4AD-0191B7F8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IV｜扫描参数、Trigger Link 与图窗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17D0C-3BB4-4FA7-95A8-82EE964B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FB5EA-9C4E-4FD3-86D1-B3785E84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26137-54E6-4B60-8EC6-6712D286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扫流参数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FAE8C-C8B3-48B3-8D46-CE0A177B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4CA9D-DBFC-422C-9E1D-C8187939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起始 / 截止 / 步长电流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6AAE7-B9DA-443B-ABCB-59843135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定义 6221 RMS 扫描路径。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780ED-4AD5-4BD9-BD01-564002CD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频率 / 采样 Hz / 稳定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377AF-32B3-4BA1-B5CA-979198E1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控制参考频率、采样速率和每点稳定。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932E4-39C1-42F3-A105-1E74033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每点测量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957F7-ED83-4D6C-9196-C8D86E4C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每个电流点的平均时间。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B095E-B477-4292-BB9F-EC73DB18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预处理电流 / 预处理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AA4D0-3B8F-4A3F-8178-6EC277CA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正式扫描前预置；0 s 时直接开始。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925BC-3D20-44AE-952E-3D547341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限压 V / 关系图横轴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4502E-A57C-45FB-BAF0-616CAA29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设置源保护与 I 或 I² 横轴。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47961-BA43-465E-91E4-C9E151F9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动作与显示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4BC19-C25E-4CA9-B796-D9BE6125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354AFC-4D1B-4A36-905F-35DD9AFF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Trigger Link输出线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BF48C7-9620-41D0-A027-AF1DF49A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选择 6221 marker 线；连接到所选 SR830 REF IN/MFLI 参考口。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A6E6F-2D75-4905-9B48-05092820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安全确认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C910F-6316-4E50-A34A-EFC5C1F7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确认样品允许 AC/DC 电流和限压。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ABC91-AD83-4AFC-95C2-370BC652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立即停止输出 / 归零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B57D14-D3C7-46DB-930D-A60EB6DE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关闭 6221。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E5992-BECF-44A3-8A96-23216614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选择文件夹并开始扫描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7F168E-6610-4A63-89D2-30762410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先选目录，再运行并实时保存。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6DA765-A17B-41C9-8301-6E409152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停止扫描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D67505-E29C-45A9-B3BC-A4A19607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终止并执行清理。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3FB86-4ECE-432D-8E60-F62F1F09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图窗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7AF859-4E2D-430E-9D8F-FC5870B2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每台仪器独立 R/电压、theta、I‑V；单位自动切换并重绘历史点。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7D19D8-FEF1-48EF-9B56-11E94265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BD9FB5-07C6-4E9B-9724-4FD4B05D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081692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5FA47-B637-4FCD-BE28-867E2088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63843-48A1-46F0-AC62-7416DDE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A2E4C-A819-4F73-9806-1C6A57BB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Gate‑VI｜仪器连接与互锁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65C06-7876-4A0B-BF69-BFCA66CB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E8607-F035-44E0-A932-2349E04E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EAFB1-9BC0-4B4F-B5A1-F33099A8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独立连接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0D8F0-3638-43A0-96E4-45C941E4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DC594-2263-4433-A84D-48B01B44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2410 / 6221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BB738-1BC2-452F-9B9B-9D06549E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分别连接门脉冲源和读电流源。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CF2FA-DF28-44C0-A39D-08EDDF69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SR830 #8/#9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D2238-2EDA-4E17-86CD-498A02F6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设置输入耦合、倍频、X/Y/R 和参与扫描。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41764-37AB-4ECF-870D-3DED3607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MFLI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0D266-E63B-4312-AEA7-D1AFA022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选择参考接口、耦合、倍频、读取量、自动量程、阻抗与 Scaling。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02066-404D-4FF8-83DF-F96134F9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2182A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6CAF8-8FAD-48E6-BF9A-3C7041EE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通道1、NPLC 1、自动量程；可选参与扫描。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157F2-320B-4A9E-BC21-35F2A377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安全与 Trigger Link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298F2E-3B42-49C3-A648-1A484D1B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3282D-97A6-4A4E-A1D0-810EA130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安全确认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57C70-69E3-48FB-9B5D-764C80CB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确认 2410 电压脉冲、6221 电流和样品安全。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9F6E1C-FFA5-432F-8179-59FB9E38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Trigger Link输出线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FCB819-FCDB-4678-9FB9-41D7CC0D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把标记送到所选参考输入。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B6CF0E-9F46-4D92-8C39-506F5D7B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互锁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0355F-B7A6-4047-B20B-5DAA8DC2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2410 脉冲/测阻时 6221 必须 OFF；读电压时 2410 必须 OFF。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B81666-7C08-4F11-ADA6-1B759C68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立即停止 2410 / 6221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6E27E9-10B4-4B27-9C4E-FC48998A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同时关闭两台源输出。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2E1AD-C89E-443C-903B-B57F0AC9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E6B4BC-9409-4C23-90C4-1DCEFCDF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419503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A2AA8C-F4E4-4425-A16D-15B1E8C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54C71-FCF5-43F6-B998-2D17B79A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C8294-95A9-43A0-8D5A-A4811408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Gate‑VI｜电压脉冲扫描与数据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FA998-D272-4A94-8E2B-F89CA13E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3B80B-47FF-4068-8D7B-E13AEBE3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C92F8-0983-4D1E-9A01-449B5BE6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扫描参数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FE89E-61D5-41DA-AF03-E528AE8A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B1928-7E38-42C9-B10C-02B7EE71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起始 / 截止 / 步长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9E77C-4729-4B79-BFC0-499E0F39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定义门电压脉冲序列。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7BFB4-B233-4012-8D9C-7E51BEA4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脉宽 s / 脉冲后等待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8E33A-1291-45CF-8918-50EA9199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控制写入脉冲和读出延时。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5C5F7-BB3A-4B75-B9AB-58685BCF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6221 电流 mA / 频率 Hz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35DF0-1119-441D-BF01-7411898A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设置读电流；DC 模式时频率失效。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98FB4-0C7D-4562-9281-C60E78C6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采样 Hz / 预运行 s / 每点测量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66C29-DCCB-40F1-A675-56F54877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设置读出采样和平均。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8941B-8215-4100-96CC-E52DDCF0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6221 限压 / 脉冲门槛 MΩ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C6643-0F6D-4570-9F80-9C6AAAF0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保护电流源并设置门脉冲判定阈值。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05AC0-443E-4399-8063-3DBB6029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运行与图窗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FC600-1F45-45B6-A4D4-5D710306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A4AB1-17AA-4E50-B7DC-231D6476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选择文件夹并开始扫描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3147A1-8876-49AA-8F04-929246BF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选择输出目录并执行完整门控序列。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1FDAD-5246-4E1A-A701-DD2EC966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停止扫描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7036E9-B55D-4461-8A41-7D516909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停止线程并关闭 2410/6221 输出。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A676BA-31E8-4F9A-8EF8-3FC87353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状态灯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BF1DB9-794F-42F4-AA14-930D2D6B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每台仪器独立显示连接状态。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73DD8-F5A1-4853-A3C6-4E1FC48B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SR830/MFLI 图窗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CBC25C-416C-45A1-B5D9-92965C19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显示电压/锁相信号、theta 和 Gate‑VI 关系。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BAFFF0-4D4A-4A8E-B9D9-916EF01A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2182A 图窗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6774BE-60FF-4EF7-A459-791FE6C6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只显示 Voltage vs time 与 Gate‑VI，不显示 theta。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6C911-ED65-40EA-B727-63D8F89E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381726-0155-441B-B36C-0B3C97B4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800833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25862F-C837-43AE-861C-7661587B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66EB9-A5F8-4190-8FCA-4B21756F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8589C-47B3-4D66-8A1B-CE2A149A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PPMS1｜连接、读回与环境控制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55E83-2079-4193-83BC-F3575A78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894F2-6901-4FE3-985B-0C8818EE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771EE-A786-402C-AB1F-B4E6C5E8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PPMS1 会话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BE0CA-240B-4296-9AFC-5A4D8390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E5CFC-18B6-4AE1-B6D1-7F301475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接口 / IP / 端口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B3E08-56E2-40A1-9006-DF03E62F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选择 MultiVu/QDInstrument 后端；IP 和 TCP 端口可改。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0C5F9-D030-4BF6-B14C-A7693317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连接 PPMS / 断开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50C80-14F1-4979-BF61-C03DD9CF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建立或释放远程会话。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1E5D5C-7E57-4968-9FA3-8E14B9FC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读取当前值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9982B-EBA9-4E7F-8941-A2D8F047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刷新温度、磁场和状态。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0C01A-B115-4CAE-9724-9DC6E9DB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绿色状态灯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ADE36-2EF3-4137-A31F-D88B8F45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仅表示会话可用。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F7C24-40E6-482E-BADE-677D097A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安全确认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43AFD-EC3F-4DF7-817C-F54A42D9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启用温度和磁场设定前必须勾选。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A9747-E605-4532-8C42-E0786E10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温度与磁场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83766-8250-4878-86F4-BE660E75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EBE55-4FEF-4DBF-9217-CB127F82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目标 K / 速率 / Approach / 设置温度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56F15-46AB-403B-9844-18EDF365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5–380 K；5–10 K 段 ≤1 K/min，其余 ≤10 K/min。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08393-DD62-41DF-9A6B-59F28662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目标 Oe / 速率 / Approach / Mode / 设置磁场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03EC1-F5E7-4066-A0EE-F5850799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范围 ±89900 Oe；速率必须 &lt;150 Oe/s。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B9DE19-7A44-4F43-9302-B18CB170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归零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086D8-171D-4E25-B17D-DEAB185B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把 PPMS 目标磁场设为 0 Oe。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7B0CF-061B-40B7-8930-BBAA555E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步长 Oe + Down/Up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2EDB84-76CF-42C3-8B9D-690A866D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按给定磁场步长微调。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B5F256-3E14-43B9-B9DE-13D6AA44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当前温度 / 当前磁场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D1A6E3-052F-47DB-BE28-688929BB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显示数值和 Stable/Persistent 等状态。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234A11-C95A-4A8B-9DD1-064FD23F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4086E0-AF21-421D-835F-B9DBEB3C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587777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715585-138F-471C-8451-71BA5265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CF49E-2CF7-4A75-B1A8-B65A6C71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189B4-F07B-46C6-B067-609D5C58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PPMS1｜强制同步扫场与外接仪器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9CF40-17B4-4A50-9C11-68C6F41F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73A1C-E94B-40AF-A3D5-76383ED6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92ACD-9ECE-4FA6-AE5F-BD7AB642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磁场扫描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492A7-EA7D-46DA-ADC6-1A757CC2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15778-E8E3-4927-90BC-34A38921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起始 / 截止 / 步长 Oe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A7D0F-BA5B-4209-B9D9-F591910B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定义外磁场路径。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C84C1-DEBE-4E42-8EE3-4BBC4499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速率 Oe/s / Loop / 稳定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B65C3-909F-4B10-8AD9-7139426F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设置变场速率、循环数和等待。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B06B8-C6A2-4949-88BA-E2D90295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开始扫描 / 停止归零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9C4EF-70EB-496A-978E-64436723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扫描必须同时加 6221 AC 并测至少一台 SR830。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13360-3C26-4AD6-AB16-1D0D9E3A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保存 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6CDF4-EFBD-484C-962A-4FCCAA9B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保存环境值、源设置和 SR830 电压。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0856B-B823-4833-936A-E06B82D2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进度条 / ETA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19733-DE0C-4121-943E-CF638F6B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显示已完成点和预计剩余。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BFCED-80E2-49E0-A7CB-A74B232D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输运与仪器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25C3B-10BC-4438-95CB-4FFB278B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E79D8-E68B-4947-BB32-E8001A86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电流 RMS / 频率 / 限压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F5F1C-8890-4D26-A03A-E70A7398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设置 6221 AC 读出。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489AC-3329-4CC3-A5EC-C4EDB2AE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槽 A / 槽 B 倍频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63FAC-F98F-459A-9467-CD103389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分别设置两台 SR830 谐波。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469A9B-7D79-4494-BCBD-F4B27052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外接仪器连接 / 断开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EB6BF8-1EA1-4A65-B277-4F0DA48F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6221、两台 SR830 和 2400 独立管理。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526BF4-77B6-4C76-995B-AB754705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SR830 地址 8/9/10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D04DB7-DF6C-40A4-B6AC-C99BE6CA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每个槽位可选；重复地址不允许。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73CE65-1DCF-4F6D-B463-72651CFC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6221 / 2400 立即关闭输出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E0628D-9310-4FE3-928E-D198D9E0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紧急关闭源输出。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B2B816-4386-4EEB-8184-B88F5A36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电压 vs 磁场图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432F2C-420E-40B3-BC77-D6EE7C7E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只绘制已连接并参与的 SR830。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97D77B-FE19-4A6D-92C3-F5DEF46F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052C83-153B-4823-A0E8-2E1E3D2E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5863500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48FA5-F4E6-4012-BFD4-B1301C7A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395E7-7283-4D38-8CC8-0A28C6CA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界面导览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137F2-AD2F-49A8-BB56-9886D97D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STFMR｜完整模块界面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B140C-9937-49C0-9120-E4BB81A0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84f7ffd0c45b6"/>
          <a:stretch xmlns:a="http://schemas.openxmlformats.org/drawingml/2006/main"/>
        </p:blipFill>
        <p:spPr>
          <a:xfrm xmlns:a="http://schemas.openxmlformats.org/drawingml/2006/main">
            <a:off x="4143169" y="1371600"/>
            <a:ext cx="3905663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FB50C-3074-4FD1-B820-AA2E2C41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当前 STFMR 页签：三台核心仪器、4886 输出、475 读回、多频扫场与实测磁场曲线。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4C355-7720-41C9-A86B-D30AC11C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CB938-97DC-426C-BEF3-D113F1E6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3023987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D623CB-634D-4A3F-A991-5008B20C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7F17C-AC6D-4443-B687-67CD2C21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4AF6F-15BA-49BC-9F52-CB558D24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STFMR｜连接、4886 与 LS475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BDB01-3813-40FC-8958-24C35188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2F101-0C7D-48DB-881B-0BB2F633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C3DF2-5835-4B70-97DD-31FCCF13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仪器连接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77916-59F3-47D6-9D11-B833805C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52444-34CE-48C1-9B60-EDF057D2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KEPCO4886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23A08-20CD-489E-9D7F-E5F76EF4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GPIB0::6::INSTR；连接时只占用资源，不查询、不写输出。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99D82-A996-4CCD-9C94-5126406A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LS475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FEB41-ED89-44DC-B60C-478EA11A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GPIB0::12::INSTR；用于真实磁场反馈。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C808F-CED7-406B-960A-BE2E842A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PNA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76E02-F0CF-42FB-ADD3-3A78C563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GPIB0::16::INSTR；N5242A/N5227A。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E2971-91DA-4E30-A351-5146D4BC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SR830 / MFLI / SMB100A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94373-5AF8-4450-A7E4-0AD4586C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预留独立连接与状态灯；SMB 默认 GPIB0::28::INSTR。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521ED-0534-4393-BA0B-F4A23F10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绿色/灰色灯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164496-8949-411C-BA4D-9BFF774B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分别表示已连接/未连接。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F21A4-16D6-4C93-A4CD-69B9C7DF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手动输出与读回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C3955-FF0A-4B7F-BE43-E27165CD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0EA30-DDE2-4CE3-9F0D-CB5C1D19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安全确认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30EF4-A72C-455B-8A2E-060C8202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确认磁体极性、冷却、接线、前面板限值和无其他控制程序。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187EBB-F7F7-4ECD-92E9-9CFB7250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输出模式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2FD908-B3DE-49DC-8C88-3744466A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选择电流或电压。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CB8E9B-E218-4181-AE91-CB0C883A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目标 / 限值 / 应用输出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9B234A-D44A-4AD7-B433-3F001944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写入 4886；软件限制 ±10 A / ±20 V。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82CB66-DB3D-440A-A3A1-650E7921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显示已发送值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3ACE1E-85D4-41DC-B291-5DF72F7B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只显示缓存的最近命令，不是 4886 回读。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37333E-661D-4229-BA16-BD61426D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归零 / OFF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367226-3E19-444F-B314-D1BD4060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发送 0 并关输出。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EC18F-5588-470B-9311-081DD567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读取一次 / 连续读取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C1722D-FB10-46CE-9782-3AC61FCA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从 LS475 读取磁场，连续周期 0.5 s。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33CB34-83FB-42AC-8F72-1744632E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570D56-6A40-49D5-ABD2-D43891BF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999844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89A8DB-D396-469E-A54A-78193256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A2A63-AE7B-4B96-8E8F-F3267CCD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99609-ED46-4A97-9048-D0E457D8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STFMR｜多频扫场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A9B78-34CD-4C78-9651-5B357348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7405E-DBEB-4C46-ADC7-A2424331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CAF77-60E0-4353-9FCC-726EEA02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58E52-E82E-4AC6-BB00-0AAAD8CF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6DFAE-40B1-423C-8183-FD52AFFF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频率起 / 止 / 步 GHz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8FA39-E07F-4176-BA49-8271DBF8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例如 5→10、步 1，将依次执行 6 个频率。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7830E-67A8-4B3A-A3E1-B2ABF904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PNA 功率 dBm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D2AAD-E1D9-4A36-8A7A-C03934B8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默认 −10 dBm；GUI 上限 0 dBm。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56F89-6534-432F-B531-E9199668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起始 / 截止 / 步长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83665-753C-49C9-A05C-FF209563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扫 4886 电流；横轴用 LS475 实测磁场绝对值。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75A1F-054E-408A-BE14-AADBB357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限压 V / 等待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C179E-A051-4F7D-BBD1-18D79D7D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设置 4886 电压限值与每点稳定时间。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1A863-3092-49C9-A905-B6116C21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S11/S12/S21/S22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54414-29CA-4FC9-9389-35E6AB88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可多选；跨源端口组合按同一磁场点顺序切换，不是严格同时采样。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E4659-205C-423F-A3F9-2126F0B8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1899F-5D08-4C95-98B2-6F73632C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1BD37-C62B-4EF2-AEFE-99882872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结束后关闭 PNA RF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E1B5B-4388-49AB-999B-A22F5D22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扫描结束或停止时关闭激励。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3D19C8-2B04-4165-BD4F-F8BF612D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开始多频扫场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21F45-5644-40E6-B77B-11A39444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按频率外循环、磁场点内循环执行。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851A72-F37F-4939-8B23-41298145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停止 / 归零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9128FA-62B4-47BE-B0C6-F5E89DA8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停止线程、4886 归零并关输出。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575A62-7B27-4B3B-8DB9-97B3ED62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保存 CSV + PNG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C4D61A-65B7-4B06-939A-88DB3BBE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保存全频率/全 S 参数数据和磁场曲线。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69D655-CFB1-4589-95C8-7B2245F9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进度条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DA616C-628A-4CE9-BB5D-9A423B5C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显示频率×磁场×S 参数总进度和状态。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F651C8-B046-4A02-ACB8-6FA0B9A2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切频采点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0F2E9F-062A-47FD-842D-B2EF684F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切换频率后先建立新曲线并等待稳定，避免把过渡点串入前后频率。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4E978D-6155-4D1E-9F84-D9861983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FC65F6-E846-44F3-A035-AD73FC46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9422446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9FE929-2A13-426C-999A-1DD2DE4C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5D333-8DC0-4B61-ADD4-318FC099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F3494-1EC3-4453-BEF3-A4E27CCB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STFMR｜固定磁场扫频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A1BD8-8683-4BEC-AA5D-15ABB44D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010A7-F129-4268-A04E-79B7FC38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E8135-2B82-4637-BC84-B7C35CF2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参数与反馈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7071A-F26E-4A5C-9331-1F078E78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6D168-1F88-43D4-BBB2-F935F19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固定磁场 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754FA-6C36-49DB-A3E0-4DDF4F8A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目标磁场的绝对值。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71333-93AD-4F93-B723-5169062A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频率起 / 止 / 步 GHz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D6DEE-95B0-486F-94F9-01FDD1E4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定义单一磁场下的频率序列。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BD871-7B41-4325-B327-0F49C559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磁场容差 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36692-2CF6-4BBF-992F-3C64CEF5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默认 10 G；反馈调节到容差内再开始扫频。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E9851-EECF-4FF3-8A2C-D0A77990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反馈等待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519C4-CE2A-4C92-87EC-64FD1917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每次调 4886 后给 LS475 的稳定时间。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7F58D-C4BB-4124-8D3D-1472E96D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S 参数 / PNA 功率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C3D5C-78B2-45CC-AAB7-68A8E332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沿用上方选择与功率设置。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D477B-6D4D-41F5-A488-C324A18B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动作与图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C4CA8-423E-4E5C-B6A9-4F3D6182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A3579-7F66-4043-B08A-6E72506A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固定磁场扫频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2934C-9522-4311-A414-7F815843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先用 LS475 反馈调节 4886，再逐频率采集。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16B3F-5F44-41E9-8AF9-C98ECD44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保存扫频 CSV + PNG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82D0C-6C6A-40D4-9A8B-0AC194AA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 Frequency‑S 参数数据和图像。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8CF52A-18F0-4C1F-9837-4B71BF52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扫频进度条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F259BE-7B4B-4A37-8DE5-BC398EEF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显示反馈和频点进度。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DD4CD-86D2-4AE6-86C5-80BAAA36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磁场图横轴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CD1F87-7CA7-43CC-A6B2-011A84DC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使用 |实测磁场|，0 永远在最左，正负场都向右增加。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E8AD37-C309-4746-9089-CF34FC78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频率图横轴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865F0-B6CF-4C6F-9C80-BF7CDA0B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GHz；纵轴为所选 S 参数幅值 dB。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A12B95-2105-4F7F-8080-3AA61941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B2B0ED-90FC-4EC4-91AD-B85309C5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55868841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67710-389D-4422-9012-82509BFA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88392-7370-4DA9-92E9-A830EF12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界面导览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B128C-7B04-4738-A711-B36CE868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STFMR｜实时曲线示例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48955-9B5D-428E-A0E6-B995C15B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8e67d97514143"/>
          <a:stretch xmlns:a="http://schemas.openxmlformats.org/drawingml/2006/main"/>
        </p:blipFill>
        <p:spPr>
          <a:xfrm xmlns:a="http://schemas.openxmlformats.org/drawingml/2006/main">
            <a:off x="4281628" y="1371600"/>
            <a:ext cx="3628744" cy="4324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9EA2D-3BAE-498E-A91B-A2DA5214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S21 随 |实测磁场| 的实时曲线；实际数据由 475 读回，而不是用 4886 电流换算。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86D28-5F77-4BA3-806E-26C21236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73916-4878-4DB6-A302-8D2F0953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9932079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72F7C1-1AC3-44AE-8BE3-6FBC9897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8E56D-2953-40E2-98BD-30D9EB79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D449C-1BC7-4F54-A1DE-3CFD1AA8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通用 ROI 编辑｜按钮含义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F4120-0425-43CB-8307-806A334F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8AAB3-881D-4382-80AB-6C59DC80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B9786-23BA-4F1B-8692-6416C4F5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几何按钮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7767D-B858-4406-BFE8-009D8C93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7B350-E871-4066-BF8C-95CB8B59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A− / A+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4C0DA-308F-44EA-939F-C79EE8DE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减小/增大 ROI 旋转角。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08245-1AE1-47C8-A567-8837E2EA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W− / W+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34218-80FD-4E09-94E4-97088E0A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减小/增大 ROI 宽度。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55838-2B53-40B0-A039-DD1442B8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H− / H+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2FFC8-BB50-4CFB-B84B-79A82369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减小/增大 ROI 高度。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772D9-8FC5-4A16-989A-DF972FA4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X− / X+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D4517-13F1-4949-ADA0-C437B8B3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向左/向右移动 ROI 中心。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B70DD-8729-401C-BA23-FD627483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Y− / Y+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9AFE1-D3B5-45F9-80CD-15851D64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向上/向下移动 ROI 中心。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46B5C-808F-497A-B7DB-7D0B23A7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步长与约束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36762-D2DA-4A6D-A65A-698B6E82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C78FF-AA76-4033-8F18-20533F1A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A / W / H / X / Y 步长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EBC46-345A-4B9B-861A-B619E015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所有步长都可键入；角度用 °，位置/尺寸用 px。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1780D-A4EB-4348-8910-81D96DEA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Shift + 左拖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844081-63BC-4503-BB6F-A418C2CB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最快的新建 ROI 方式。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F398B5-D038-4B0D-8669-DD5FA72D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ROI mean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A61EF-0B9F-4DB9-A1B3-C51E1FD7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显示当前处理链后的 ROI 平均值。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3DB561-D581-4292-BA58-C2602894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扫描期间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9C4C3C-4381-456F-9DC5-996545A5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2410 扫描时禁止重选 ROI，避免数据区域变化。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DBA6E6-267A-4C3A-80DD-0EECE918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清除 ROI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221339-A295-4E95-A6BC-F31591C1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Camera Live 快捷键清除后，各模块曲线等待重新选择。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F55631-FFB3-4D32-ADFA-4146D502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B62123-CDAC-48F3-924F-58417DB9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0770289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6C4E65-F503-490D-874A-EA370FFE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CED89-261F-4CF3-81B8-1AB7E469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8DAAB-96EA-4EC6-91F8-2151572B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文件保存｜不要混淆数据层级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33030-B64F-49E1-B2DC-EAB1A009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65AB5-7E3A-49E6-AA13-C2D2A68F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D2EF5-DC57-4844-9AE4-DDE549ED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图像与视频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86090-F531-46B8-BF31-2A494543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18DE9-2E4D-46B1-A1C5-D7ACC4AB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保存当前显示图片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BFEAB-043C-49EF-9B5C-AC23B3DB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 Camera Live 当前 8‑bit 显示内容，不含 marker。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852D2-095D-44C2-B5BF-0D170BB0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保存原始16-bit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4C099-CDD6-4F41-91F1-4F1707FC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保存相机原始 16‑bit 数据。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01F7D-9D09-4E83-972C-7063DD4F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保存差分原始图像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5E6B4-844A-41CA-8165-49A574FA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保存差分、binning、mean filter 后的原始数据层。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BE6CF-F6AA-490E-8FE1-9C659AE0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同步保存处理图像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5991F-5D01-4DB9-BDAB-519AD2CF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扫描每点保存处理图；磁盘 I/O 会变慢。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34492-D24C-4471-827F-F500898F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Camera Live 8-bit录像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9891F-CD04-4C19-A56B-906943E7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按设定 FPS 记录显示层；视频包含场/电压等实验标记。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D52CD-FD54-4387-8D80-FBAAD11C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CSV / PNG / 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B3E5FE-D472-40A1-900A-6683E28E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975DA-3A4B-4857-AAE2-9989D780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MOKE 保存 CSV + PNG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96953-690D-4654-9712-59018F9F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保存磁体电流、Gauss、ROI、曲线快照和完整参数 log。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DFC9C-E040-4A3F-A659-84B8AB1A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2410 保存 CSV + PNG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EE9E5-8FCB-40C1-B00D-1A4E6F74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保存电压‑ROI 和参数 log，不保存 ROI‑time PNG。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1A6DE2-D61E-45F6-9CFD-9FDD88E0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6221 保存 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8C666E-020C-4316-9853-BEB05824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保存脉冲路径、脉冲号和 ROI 平均。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CFE53D-7946-422C-8274-B88E006A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PPMS1 保存 CSV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2F0C36-DF99-40D2-83AF-A300F3AB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保存温度、磁场、6221 和 SR830。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2F01C9-546C-4E8F-954A-3EA56FEB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STFMR 两类保存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D75884-7A5D-498E-BBA3-4BE0237A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多频扫场与固定场扫频分别保存 CSV + PNG。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AAD351-CCF0-4D04-9BC9-54510CF2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4B7128-873C-4268-9F12-0EF0FCE9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8355746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B75EEB-D052-47CF-ABDD-9B83210B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11371-0C12-4B90-84DD-C0BDAE39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636F9-985E-4153-9B5C-CF6BBBF5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停止、归零与退出｜按模块核对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FB38A-3CB6-4CF2-ABA3-E9F6AA2C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E35A6-7FD9-476A-8C36-E7233B14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05829-166F-4988-A4FD-0109CD64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立即动作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12C11-40B3-495A-BCE4-AA96E7DA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B9D1D-34BA-4A07-A3A9-755753EB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LED 全部归零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9EBDE-74EF-4D7C-906E-0BDC7A56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四路 LED 归零并关闭。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9E5E6-9BD4-4968-AE94-B10884C5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654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电机 Init 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670A3-F5CC-4509-941D-4AE22376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40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停止驱动输出；机械急停仍需可触及。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35C55-702F-4D29-8F95-E065B1A0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2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MOKE 两路立即归零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B048D-C612-431B-A5BB-F5C353CE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15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磁体两通道归零。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428D9-9198-43E3-9225-D67AD487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2410 归零 / 关闭输出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B3A2F-ED43-4C3A-9CC9-78A73521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电压设 0 并关闭源。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96E0F-5DA4-436F-9FAB-459B2221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8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6221 立即停止 / 归零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64E87-C18A-486B-B732-FCD2A370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665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关闭连续与脉冲输出。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5D606-FE5A-4B63-B9CA-B982E031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356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IV/Gate‑VI 急停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2A995-9C48-41CC-B9CB-264E3584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4200"/>
            <a:ext cx="5067300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关闭 6221，或同时关闭 2410/6221。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DB51A-A7DF-40B6-A29E-F41A2ED5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扫描清理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5FE5C5-19CE-470F-92EC-7A6BB1EB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49DF7-B972-4C10-96DD-A63985D0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PPMS1 停止/归零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90D5C-EFFB-459F-BE41-347EA0A7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停止扫场并回零；6221 输出关闭。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C73DE3-EACF-492D-BFE7-12004336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STFMR 停止/归零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582C9F-F82A-4DA2-974F-57FDD401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停止扫描、4886 归零/OFF；按设置关闭 PNA RF。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5DCF42-5395-4128-9088-70E5CA05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程序关闭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F5EA91-6A00-45B4-A8F0-D0761FE3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逐模块尝试停止、关输出、释放会话。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9523B3-0FFE-4CB7-8DAA-C073E7F6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旋转台退出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14298F-8D96-45C0-A5C3-0FDACEC5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保留当前位置，不自动回零。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66B527-6C36-4375-BCDA-61087C73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最终核对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3F3D35-5C93-45BD-B0F3-0B0E388A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程序退出后必须看仪器前面板，确认所有源确实 OFF。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562E90-0BCD-4E81-9585-6A726F1E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CE3A6C-2197-4CAD-9157-96204911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42018218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A52ED2-1126-484F-9541-80914EAE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87F03-11A8-466D-BA9E-1A5FFEB4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9860C-5C44-46CB-BCA1-F8C1E7CE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标准启动顺序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D4408-3776-4C51-BBAF-B9A9996E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46B8D-89AD-4748-AF0E-A6B302A6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8AC70-A651-473D-A7B3-8CDDBD94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上电前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CD7B3-6924-4719-A458-2545060F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EEB7C-5DE5-4D15-BA4C-9A46E898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1 · 检查硬件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29DA0-7C3C-4F5C-8F2F-473DD06D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线缆、极性、冷却、机械限位、接地、量程和急停。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74CB7-AA87-4549-ADA7-3E2E3845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2 · 关闭其他控制器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B2EFF-BBD3-4245-8EBE-07E3BC5D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避免 LabVIEW、旧 Python 或仪器软件同时占用资源。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5B823-0449-4462-945A-06D35791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3 · 启动主程序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1431D-B481-453F-B9CF-25EA3604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确认标题为当前 Transport_NH 版本。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9FC67-21A9-487C-897E-E0423220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4 · 逐台连接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3F7A6-693F-464F-A21F-0737065E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优先连接读回仪器，再连接输出源。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1617C-A976-4C92-8950-AEA7113A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开始测量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706B4-EDAD-465C-BAA2-B0E7AA16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F7E77-D8BC-4ABD-B0E5-0D31C76E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5 · 读取零点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B7E740-8F8D-477E-9C7C-B425DCD7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检查相机、Gauss、温度、场、电压/电流是否合理。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D4D76-D1FC-4040-9977-1488FC04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6 · 勾选安全确认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EF0C5-1C5C-419D-839A-FE56EAAD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只有硬件检查完成后才勾选。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D6CB0-1782-46EB-AFC5-9A691D6E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7 · 小量程试运行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A4823-D020-4DCB-8627-F4412703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先用 0 或最小安全值验证方向和回读。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30A5C8-74B9-456E-BF41-F63F2E85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8 · 设置扫描并估时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255D95-1767-4F39-8A6F-1E3E5301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核对起止、步长、Loop、等待、采集和保存目录。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0C1677-D030-4E43-BB0B-BDAEE5BD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9 · 运行并观察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CEF94E-6DE9-49DF-9C5C-DB12EEDE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同时看进度、仪器前面板和异常状态。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AFFD91-EEE1-4F13-ABBC-1B67C3ED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8A1D23-F6FD-4F7B-AA18-3567BFCA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62307765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A95B94-962A-4ECC-95E0-C174C494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89825-02DC-48E7-A393-34A2D1DA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7DBCD-C911-4543-9A1B-2E20CECC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常见问题与处理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3D861-5203-41A2-8FDD-A455A402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A7A54-AD08-46FC-81A9-FB4B8D51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0AFB4-2D30-4577-9810-8A20AEA0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连接类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3BF21-1E45-4CA1-A8E2-F48CDB9B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4CE11-A831-484D-94B3-E1F1E76E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按钮仍为灰色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F8C75-E545-40D9-8C77-42F5805C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检查连接灯、安全确认和必需仪器是否齐全。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9B404-5D9E-4A55-9BA8-2204F34C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VISA/串口超时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C0628-05E2-4173-92DF-6EB5B808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停止输出，关闭占用程序，断开并重新连接；不要连续盲目重试。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8729B-9927-4B12-BEAF-CFAE71BC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资源能枚举但不响应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6BB0B-02FC-427C-B7D7-30B37D94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核对终止符、地址、驱动和仪器远程/本地状态。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7AA7E-A899-467D-8DD4-D9DF82C8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MFLI WARNING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CF188-E5B0-4604-99E9-FC5CDD45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检查参考接口、锁相频率、输入量程、阻抗和 LabOne 兼容性。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F1390-E18E-443C-97E0-9B8A4780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PPMS 连不上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80870-5920-4DB2-861E-88F2A5A4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确认 MultiVu/QDInstrument Server、IP/端口和单客户端限制。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047F60-31D5-4C5A-8BAE-57511666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数据/显示类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43AE2-B224-4446-8DD4-9EE76947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1E82B-2051-4A10-B66D-EB3F9E84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ROI 曲线无数据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831D8-5C13-4BA0-A275-31BA85B6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选择 ROI、连接相机并确认相应处理/扫描模式。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294E5-96DD-4D1D-BF88-94988EFE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差分看不见磁畴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FA7B5-0C29-4E3A-8B9B-C64A34A7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重采背景，检查 CLim、时间平均、binning、mean filter 和曝光。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ECBC96-DC35-4E1D-94C9-B862436E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视频打不开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6966E-8F89-49A9-B65A-D306C2DC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优先使用 MJPG/AVI 兼容播放器；源数据仍以原始图/CSV 为准。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3C37E3-7899-498C-A853-CB5E3D7F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曲线单位跳变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9A490F-ED11-4241-9CB4-3E1EB158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自动单位会重缩放全部历史点，不应只缩放新点。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37C4D7-001A-4248-A16D-D6799D01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扫描变慢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894DED-3DAC-44F5-B8D0-1ACF62D8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同步图像、短刷新周期和高点数都会增加负载。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AC3539-B53B-4A60-B01A-488C94F3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4DF4F2-AFE8-4435-A0C9-3D22B63B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04777895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52B296-AAC9-44DE-BE6F-C6B644CA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0DB7B-6A3D-47D6-A351-145225B2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A5806-6436-4247-903D-E05FE7D6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运行依赖｜哪个模块需要什么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97E04-EABF-4888-9C94-99C7B87A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8C1C2-F89A-43A0-BBDD-BA098898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FCA1F-7210-46E2-BC26-2AF1CB42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通用软件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5E762-690E-4C35-B8CE-631909AF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F78A8-110E-43E9-94B2-C9D2E693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Python 3.11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45FEB-4C10-4B35-BB4D-52AB2CBE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开发与打包基线；Windows 运行需匹配环境或独立 EXE 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1C4F6-3CA7-4519-8F5B-4C8E3FDC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pyserial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B2F8C-9FAA-40E6-85F5-A27B9DB9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LED、MOKE 磁体和电机串口。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5D26D-2C88-4FCC-A922-26BB4B69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PyVISA + NI‑VISA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80AEC-2BD5-4573-AD4A-EB03203C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2410、6221、SR830、2182A、PNA、4886、LS475 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06DFE-AF14-46DE-A2D2-C5C85A1F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NumPy / Pillow / OpenCV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0569A-EFED-49F5-9B08-2DCC8AAC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图像、ROI、视频和数据处理。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38C5E-614C-4064-B696-130196B7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Tkinter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CD140-4A5E-4957-8D1D-25111622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主 GUI 和 Camera Live。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D4FE9-BEC9-47F1-8FDA-C2D467EA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专用驱动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2B2A8-4AC6-4592-B31A-BCB72696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BE60F-C271-4EE9-9A28-221C76FF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PCO SDK / sc2_cam.dll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C219D1-8112-4444-B7CC-677075AB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PCO 相机。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60F65-6532-47E0-8C0B-ACEA11FF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Thorlabs Kinesis + pythonnet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71748-3E18-46F7-9371-6CC539EA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K10CR1 旋转台。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249E43-32FD-47CE-B0FD-0AC34182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Zurich LabOne + zhinst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F21E6-752A-4454-950B-EE887AF0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MFLI；API 与 Data Server 版本必须兼容。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2A61B-D3EC-44B4-9C7D-725D78B7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Quantum Design MultiVu/QDInstrument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6761E-649A-481A-B1EE-4C27A5BB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PPMS1 环境控制。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BFB3C4-7A07-4C4C-A5F1-99CB7F98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仪器固件/驱动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AAF101-5D2D-4037-9298-3BBE184A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所有模块仍依赖正确的硬件地址和本机驱动。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586063-57E2-454F-A5B8-856A40C3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43CF87-AE05-42A4-A651-C286E095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49016128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E50FCF-1C13-4284-9F25-EBCDCE7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C7E8C-40A9-4B76-8F41-F48CCC32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9C90D-5714-4DEB-9877-D6097BA0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上机前一页核对表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EDC2D-E7BD-4398-A3E7-3E91777F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30D5E-266E-444B-BB65-F4429063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CBEF1-205F-47A2-8731-0ED9BC9E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输出与运动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77A2B-83C6-4884-B6C6-0483CF55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D241C-C358-4F7F-A5CA-FB41E318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□ 输出源为 0 / 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4B591-7A52-44B9-94A9-1C91E39F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LED、BOP、2410、6221、4886。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69A59-7AB5-401E-A0D6-8E27008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□ 机械路径安全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6A285-A028-46D3-ACDE-BAD04146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电机、旋转台、探针和限位。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7D65C-130D-41E7-B805-B9BC1D20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□ 冷却与极性正确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8D69A-B861-41CC-A3D8-2B30F83B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MOKE 磁体和 STFMR 电磁铁。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8AAD9-4B8C-48BE-9184-84AE7124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□ 没有第二控制程序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42F1F-FCBC-46AC-A638-FF056704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特别是 LabVIEW、旧脚本和仪器软件。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6C189-4660-4806-BED1-FE48DCCF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□ 急停可触及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8EEBE-7A0A-429D-BB2C-78351A86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软件急停不能替代硬件急停。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1CAC3-692B-4A99-978E-A6E3C3FD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参数与数据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D5C99-5EDD-4526-BD28-E14AA33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5182A-E755-4E94-918D-714ECE40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□ 地址/端口正确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4476A-26EC-430C-B00E-268FB212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COM、GPIB、IP、TCP 端口。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C524F-9F37-4178-93D8-5BF2BAF8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□ 限流/限压/速率正确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A4ABB-BB88-43EC-BEFC-A9205006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包含 PPMS 温度/磁场速率。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998178-55B2-4674-8F48-7529D2C5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□ ROI 与差分正确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2DCE7D-2639-4790-B94E-298D817E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背景、CLim、曝光、平均和 binning。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AD5F4F-01FC-4F72-B9F7-E354B32C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□ 扫描路径正确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CD2C7A-1F76-4EE7-993A-25A759D0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起止、步长、Loop、稳定、采集。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83A172-7760-43CC-8DF9-B721D4D4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□ 保存目录空间足够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48525A-2B64-4EE2-BC10-A0BBC2DC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同步图像和视频前尤其检查。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E02DF6-C185-4A67-8771-A653F30D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859C9C-AC99-46ED-A07F-295480F2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8875501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D85963-77CF-4B06-BE02-5430949D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C5D51-6012-47A2-9073-DFDEDF7E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8D8D"/>
                </a:solidFill>
              </a:defRPr>
            </a:pPr>
            <a:r>
              <a:rPr sz="975" b="1">
                <a:solidFill>
                  <a:srgbClr val="008D8D"/>
                </a:solidFill>
              </a:rPr>
              <a:t>模块操作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570D1-FE86-4D0F-8522-648AF630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4F"/>
                </a:solidFill>
              </a:defRPr>
            </a:pPr>
            <a:r>
              <a:rPr sz="2700" b="1">
                <a:solidFill>
                  <a:srgbClr val="16324F"/>
                </a:solidFill>
              </a:rPr>
              <a:t>快速路线图｜我要做什么？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E8261-76CC-43FE-88AC-70A5DE38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22AD4-C6B1-4AD7-846B-70BB3D42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5524500" cy="518160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8AAF1-F7A0-4FD1-A15C-A968DA89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光学与 MOKE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F94B1-D2BD-4E80-86AC-B48073F4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8D"/>
          </a:solidFill>
          <a:ln xmlns:a="http://schemas.openxmlformats.org/drawingml/2006/main" w="0">
            <a:solidFill>
              <a:srgbClr val="008D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CD362-1DF9-4141-A4E8-096C1C29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看相机 / 调光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7EB24-EE77-40D6-98BE-A360999B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MOKE光源 → 连接相机 → LED/检偏器 → Camera Live。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7C99B-EE1C-4D5E-8D52-1EC211E1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调焦/位移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7F663-E2BB-4A55-9733-E313A214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MOKE电机 → Init ON → Home/步进。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B45EA-A8B2-4B8F-ABF4-3B1B85FE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看磁畴回线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66CF6-606D-4694-9E1A-4C5A6ECF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MOKE磁铁 → 差分 → 确认拨挡片 → 扫电流 + ROI。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AEE03-9853-4E8D-8785-963AA30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电场调控 MOKE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25A53-7C80-4C48-8D2B-945CC26A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2410 → 往返电压扫描 + ROI/录像。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A3378-1373-46A6-847E-3D818F94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脉冲调控 MOKE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DF7020-8D9E-4958-A681-D1FA11BA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6221 → 往返或定电流脉冲 + ROI。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7A652-2793-4482-ABF1-FD6C3733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906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输运与微波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7D75E-118F-423B-868C-93A550D0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049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C4"/>
          </a:solidFill>
          <a:ln xmlns:a="http://schemas.openxmlformats.org/drawingml/2006/main" w="0">
            <a:solidFill>
              <a:srgbClr val="27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5E1CC-2F3A-40B4-BDD6-01D54592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非局域 I‑V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977D5-7CEF-4AB7-A615-CCF2DC3C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IV → 6221 + SR830/MFLI/2182A。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34ED4E-D2E2-4F44-81B0-87F26905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Gate‑VI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2EF75-FCCA-4A60-AE45-3C737645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Gate‑VI → 2410 脉冲 + 6221/锁相/纳伏表。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EC71C8-9A07-40DD-8116-5364B9B3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PPMS 输运扫场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129A3-EE90-48CE-BDA1-4FFFFE5C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PPMS1 → 环境连接 + 6221 AC + SR830。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DF5249-34E7-4CEE-B075-1BA07BED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多频 FMR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350C80-CEB6-4641-97E5-9CDA090B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STFMR → 4886/475/PNA → 多频扫场。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1B0229-0283-42AA-8D70-2D7E3051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固定场扫频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094267-DC0B-4237-9675-321B31BE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29250"/>
            <a:ext cx="506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4"/>
                </a:solidFill>
              </a:defRPr>
            </a:pPr>
            <a:r>
              <a:rPr sz="1200" b="0">
                <a:solidFill>
                  <a:srgbClr val="5F6B74"/>
                </a:solidFill>
              </a:rPr>
              <a:t>STFMR → 反馈到目标场 → 固定磁场扫频。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3F39AD-B379-4E83-8613-B3825E6D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35578A-1162-4BBF-9A83-63D8C432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45692787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05DD0-C643-4E67-ADAC-8E8A4439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先确认硬件，再允许输出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A73A1-98D4-4746-9BBE-0EA9B8EA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DE6EA"/>
                </a:solidFill>
              </a:defRPr>
            </a:pPr>
            <a:r>
              <a:rPr sz="1800" b="0">
                <a:solidFill>
                  <a:srgbClr val="CDE6EA"/>
                </a:solidFill>
              </a:rPr>
              <a:t>连接成功只是软件会话建立；实验安全与数据可信度仍由接线、限值、回读和现场核对共同保证。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14591-BD5C-4068-8D26-0BCFB137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8667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0415D"/>
          </a:solidFill>
          <a:ln xmlns:a="http://schemas.openxmlformats.org/drawingml/2006/main" w="9525">
            <a:solidFill>
              <a:srgbClr val="2B60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29F05-03EF-4897-A3C1-9199B1B3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E6E1"/>
                </a:solidFill>
              </a:defRPr>
            </a:pPr>
            <a:r>
              <a:rPr sz="1350" b="1">
                <a:solidFill>
                  <a:srgbClr val="9FE6E1"/>
                </a:solidFill>
              </a:rPr>
              <a:t>推荐顺序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8A926-A80D-42B2-AC5A-04DD7498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读回仪器 → 输出源 → 小量程验证 → 正式扫描 → 保存 → 归零/OFF → 前面板复核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7a7b570f54fda"/>
          <a:stretch xmlns:a="http://schemas.openxmlformats.org/drawingml/2006/main"/>
        </p:blipFill>
        <p:spPr>
          <a:xfrm xmlns:a="http://schemas.openxmlformats.org/drawingml/2006/main">
            <a:off x="10191750" y="476250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9DA51-3598-4923-9B93-47732A71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4C2"/>
                </a:solidFill>
              </a:defRPr>
            </a:pPr>
            <a:r>
              <a:rPr sz="1200" b="0">
                <a:solidFill>
                  <a:srgbClr val="9FB4C2"/>
                </a:solidFill>
              </a:rPr>
              <a:t>Transport_NH GUI 使用说明 · 2026‑08‑28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52AFF-5B13-4644-9F2B-BF3AFA1D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4"/>
                </a:solidFill>
              </a:defRPr>
            </a:pPr>
            <a:r>
              <a:rPr sz="900" b="0">
                <a:solidFill>
                  <a:srgbClr val="5F6B74"/>
                </a:solidFill>
              </a:rPr>
              <a:t>Transport_NH · GUI 使用说明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4DABD-D2D8-4830-967A-33568135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43675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8D8D"/>
                </a:solidFill>
              </a:defRPr>
            </a:pPr>
            <a:r>
              <a:rPr sz="900" b="1">
                <a:solidFill>
                  <a:srgbClr val="008D8D"/>
                </a:solidFill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753594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2026-08-28T09:01:14.4370000Z</dcterms:created>
  <dcterms:modified xsi:type="dcterms:W3CDTF">2026-08-28T09:01:14.4370000Z</dcterms:modified>
</coreProperties>
</file>